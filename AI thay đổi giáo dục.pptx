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ontserrat Bold" charset="1" panose="00000800000000000000"/>
      <p:regular r:id="rId18"/>
    </p:embeddedFont>
    <p:embeddedFont>
      <p:font typeface="Cormorant Garamond Bold" charset="1" panose="00000800000000000000"/>
      <p:regular r:id="rId19"/>
    </p:embeddedFont>
    <p:embeddedFont>
      <p:font typeface="Montserrat"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01B2D"/>
        </a:solidFill>
      </p:bgPr>
    </p:bg>
    <p:spTree>
      <p:nvGrpSpPr>
        <p:cNvPr id="1" name=""/>
        <p:cNvGrpSpPr/>
        <p:nvPr/>
      </p:nvGrpSpPr>
      <p:grpSpPr>
        <a:xfrm>
          <a:off x="0" y="0"/>
          <a:ext cx="0" cy="0"/>
          <a:chOff x="0" y="0"/>
          <a:chExt cx="0" cy="0"/>
        </a:xfrm>
      </p:grpSpPr>
      <p:sp>
        <p:nvSpPr>
          <p:cNvPr name="Freeform 2" id="2"/>
          <p:cNvSpPr/>
          <p:nvPr/>
        </p:nvSpPr>
        <p:spPr>
          <a:xfrm flipH="false" flipV="false" rot="0">
            <a:off x="9810750" y="0"/>
            <a:ext cx="8477250" cy="10287000"/>
          </a:xfrm>
          <a:custGeom>
            <a:avLst/>
            <a:gdLst/>
            <a:ahLst/>
            <a:cxnLst/>
            <a:rect r="r" b="b" t="t" l="l"/>
            <a:pathLst>
              <a:path h="10287000" w="8477250">
                <a:moveTo>
                  <a:pt x="0" y="0"/>
                </a:moveTo>
                <a:lnTo>
                  <a:pt x="8477250" y="0"/>
                </a:lnTo>
                <a:lnTo>
                  <a:pt x="8477250" y="10287000"/>
                </a:lnTo>
                <a:lnTo>
                  <a:pt x="0" y="10287000"/>
                </a:lnTo>
                <a:lnTo>
                  <a:pt x="0" y="0"/>
                </a:lnTo>
                <a:close/>
              </a:path>
            </a:pathLst>
          </a:custGeom>
          <a:blipFill>
            <a:blip r:embed="rId2"/>
            <a:stretch>
              <a:fillRect l="0" t="-19" r="0" b="-19"/>
            </a:stretch>
          </a:blipFill>
          <a:ln cap="sq">
            <a:noFill/>
            <a:prstDash val="solid"/>
            <a:miter/>
          </a:ln>
        </p:spPr>
      </p:sp>
      <p:grpSp>
        <p:nvGrpSpPr>
          <p:cNvPr name="Group 3" id="3"/>
          <p:cNvGrpSpPr/>
          <p:nvPr/>
        </p:nvGrpSpPr>
        <p:grpSpPr>
          <a:xfrm rot="0">
            <a:off x="8096250" y="0"/>
            <a:ext cx="4762500" cy="10287000"/>
            <a:chOff x="0" y="0"/>
            <a:chExt cx="6350000" cy="13716000"/>
          </a:xfrm>
        </p:grpSpPr>
        <p:sp>
          <p:nvSpPr>
            <p:cNvPr name="Freeform 4" id="4"/>
            <p:cNvSpPr/>
            <p:nvPr/>
          </p:nvSpPr>
          <p:spPr>
            <a:xfrm flipH="false" flipV="false" rot="0">
              <a:off x="0" y="0"/>
              <a:ext cx="6350000" cy="13716000"/>
            </a:xfrm>
            <a:custGeom>
              <a:avLst/>
              <a:gdLst/>
              <a:ahLst/>
              <a:cxnLst/>
              <a:rect r="r" b="b" t="t" l="l"/>
              <a:pathLst>
                <a:path h="13716000" w="6350000">
                  <a:moveTo>
                    <a:pt x="0" y="0"/>
                  </a:moveTo>
                  <a:lnTo>
                    <a:pt x="6350000" y="0"/>
                  </a:lnTo>
                  <a:lnTo>
                    <a:pt x="6350000" y="13716000"/>
                  </a:lnTo>
                  <a:lnTo>
                    <a:pt x="0" y="13716000"/>
                  </a:lnTo>
                  <a:close/>
                </a:path>
              </a:pathLst>
            </a:custGeom>
            <a:gradFill rotWithShape="true">
              <a:gsLst>
                <a:gs pos="0">
                  <a:srgbClr val="101B2D">
                    <a:alpha val="100000"/>
                  </a:srgbClr>
                </a:gs>
                <a:gs pos="100000">
                  <a:srgbClr val="101B2D">
                    <a:alpha val="0"/>
                  </a:srgbClr>
                </a:gs>
              </a:gsLst>
              <a:lin ang="16200000"/>
            </a:gradFill>
            <a:ln cap="sq">
              <a:noFill/>
              <a:prstDash val="solid"/>
              <a:miter/>
            </a:ln>
          </p:spPr>
        </p:sp>
        <p:sp>
          <p:nvSpPr>
            <p:cNvPr name="TextBox 5" id="5"/>
            <p:cNvSpPr txBox="true"/>
            <p:nvPr/>
          </p:nvSpPr>
          <p:spPr>
            <a:xfrm>
              <a:off x="0" y="-38100"/>
              <a:ext cx="6350000" cy="13754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047750" y="1143000"/>
            <a:ext cx="1143000" cy="47625"/>
            <a:chOff x="0" y="0"/>
            <a:chExt cx="1524000" cy="63500"/>
          </a:xfrm>
        </p:grpSpPr>
        <p:sp>
          <p:nvSpPr>
            <p:cNvPr name="Freeform 7" id="7"/>
            <p:cNvSpPr/>
            <p:nvPr/>
          </p:nvSpPr>
          <p:spPr>
            <a:xfrm flipH="false" flipV="false" rot="0">
              <a:off x="0" y="0"/>
              <a:ext cx="1524000" cy="63500"/>
            </a:xfrm>
            <a:custGeom>
              <a:avLst/>
              <a:gdLst/>
              <a:ahLst/>
              <a:cxnLst/>
              <a:rect r="r" b="b" t="t" l="l"/>
              <a:pathLst>
                <a:path h="63500" w="1524000">
                  <a:moveTo>
                    <a:pt x="0" y="0"/>
                  </a:moveTo>
                  <a:lnTo>
                    <a:pt x="1524000" y="0"/>
                  </a:lnTo>
                  <a:lnTo>
                    <a:pt x="1524000" y="63500"/>
                  </a:lnTo>
                  <a:lnTo>
                    <a:pt x="0" y="63500"/>
                  </a:lnTo>
                  <a:close/>
                </a:path>
              </a:pathLst>
            </a:custGeom>
            <a:solidFill>
              <a:srgbClr val="B79352"/>
            </a:solidFill>
            <a:ln cap="sq">
              <a:noFill/>
              <a:prstDash val="solid"/>
              <a:miter/>
            </a:ln>
          </p:spPr>
        </p:sp>
        <p:sp>
          <p:nvSpPr>
            <p:cNvPr name="TextBox 8" id="8"/>
            <p:cNvSpPr txBox="true"/>
            <p:nvPr/>
          </p:nvSpPr>
          <p:spPr>
            <a:xfrm>
              <a:off x="0" y="-38100"/>
              <a:ext cx="1524000" cy="1016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047750" y="1428750"/>
            <a:ext cx="6858000" cy="323850"/>
          </a:xfrm>
          <a:prstGeom prst="rect">
            <a:avLst/>
          </a:prstGeom>
        </p:spPr>
        <p:txBody>
          <a:bodyPr anchor="t" rtlCol="false" tIns="0" lIns="0" bIns="0" rIns="0">
            <a:spAutoFit/>
          </a:bodyPr>
          <a:lstStyle/>
          <a:p>
            <a:pPr algn="l">
              <a:lnSpc>
                <a:spcPts val="2625"/>
              </a:lnSpc>
            </a:pPr>
            <a:r>
              <a:rPr lang="en-US" sz="1875" spc="150" b="true">
                <a:solidFill>
                  <a:srgbClr val="43B8C9"/>
                </a:solidFill>
                <a:latin typeface="Montserrat Bold"/>
                <a:ea typeface="Montserrat Bold"/>
                <a:cs typeface="Montserrat Bold"/>
                <a:sym typeface="Montserrat Bold"/>
              </a:rPr>
              <a:t>DỰ ÁN 1  /  GIÁO DỤC × AI</a:t>
            </a:r>
          </a:p>
        </p:txBody>
      </p:sp>
      <p:sp>
        <p:nvSpPr>
          <p:cNvPr name="TextBox 10" id="10"/>
          <p:cNvSpPr txBox="true"/>
          <p:nvPr/>
        </p:nvSpPr>
        <p:spPr>
          <a:xfrm rot="0">
            <a:off x="1047750" y="2228850"/>
            <a:ext cx="8572500" cy="573977"/>
          </a:xfrm>
          <a:prstGeom prst="rect">
            <a:avLst/>
          </a:prstGeom>
        </p:spPr>
        <p:txBody>
          <a:bodyPr anchor="t" rtlCol="false" tIns="0" lIns="0" bIns="0" rIns="0">
            <a:spAutoFit/>
          </a:bodyPr>
          <a:lstStyle/>
          <a:p>
            <a:pPr algn="l">
              <a:lnSpc>
                <a:spcPts val="4360"/>
              </a:lnSpc>
            </a:pPr>
            <a:r>
              <a:rPr lang="en-US" sz="4275" b="true">
                <a:solidFill>
                  <a:srgbClr val="FFFFFF"/>
                </a:solidFill>
                <a:latin typeface="Cormorant Garamond Bold"/>
                <a:ea typeface="Cormorant Garamond Bold"/>
                <a:cs typeface="Cormorant Garamond Bold"/>
                <a:sym typeface="Cormorant Garamond Bold"/>
              </a:rPr>
              <a:t>Khám phá các xu hướng CNTT mới nổi</a:t>
            </a:r>
          </a:p>
        </p:txBody>
      </p:sp>
      <p:sp>
        <p:nvSpPr>
          <p:cNvPr name="TextBox 11" id="11"/>
          <p:cNvSpPr txBox="true"/>
          <p:nvPr/>
        </p:nvSpPr>
        <p:spPr>
          <a:xfrm rot="0">
            <a:off x="1047750" y="4819650"/>
            <a:ext cx="7429500" cy="955357"/>
          </a:xfrm>
          <a:prstGeom prst="rect">
            <a:avLst/>
          </a:prstGeom>
        </p:spPr>
        <p:txBody>
          <a:bodyPr anchor="t" rtlCol="false" tIns="0" lIns="0" bIns="0" rIns="0">
            <a:spAutoFit/>
          </a:bodyPr>
          <a:lstStyle/>
          <a:p>
            <a:pPr algn="l">
              <a:lnSpc>
                <a:spcPts val="3847"/>
              </a:lnSpc>
            </a:pPr>
            <a:r>
              <a:rPr lang="en-US" sz="2850">
                <a:solidFill>
                  <a:srgbClr val="D9E4EB"/>
                </a:solidFill>
                <a:latin typeface="Montserrat"/>
                <a:ea typeface="Montserrat"/>
                <a:cs typeface="Montserrat"/>
                <a:sym typeface="Montserrat"/>
              </a:rPr>
              <a:t>Các công cụ AI đang thay đổi giáo dục như thế nào</a:t>
            </a:r>
          </a:p>
        </p:txBody>
      </p:sp>
      <p:sp>
        <p:nvSpPr>
          <p:cNvPr name="TextBox 12" id="12"/>
          <p:cNvSpPr txBox="true"/>
          <p:nvPr/>
        </p:nvSpPr>
        <p:spPr>
          <a:xfrm rot="0">
            <a:off x="1047750" y="8439150"/>
            <a:ext cx="5905500" cy="334328"/>
          </a:xfrm>
          <a:prstGeom prst="rect">
            <a:avLst/>
          </a:prstGeom>
        </p:spPr>
        <p:txBody>
          <a:bodyPr anchor="t" rtlCol="false" tIns="0" lIns="0" bIns="0" rIns="0">
            <a:spAutoFit/>
          </a:bodyPr>
          <a:lstStyle/>
          <a:p>
            <a:pPr algn="l">
              <a:lnSpc>
                <a:spcPts val="2632"/>
              </a:lnSpc>
            </a:pPr>
            <a:r>
              <a:rPr lang="en-US" sz="1950">
                <a:solidFill>
                  <a:srgbClr val="B79352"/>
                </a:solidFill>
                <a:latin typeface="Montserrat"/>
                <a:ea typeface="Montserrat"/>
                <a:cs typeface="Montserrat"/>
                <a:sym typeface="Montserrat"/>
              </a:rPr>
              <a:t>Ngày 15 tháng 10 năm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EFE6"/>
        </a:solidFill>
      </p:bgPr>
    </p:bg>
    <p:spTree>
      <p:nvGrpSpPr>
        <p:cNvPr id="1" name=""/>
        <p:cNvGrpSpPr/>
        <p:nvPr/>
      </p:nvGrpSpPr>
      <p:grpSpPr>
        <a:xfrm>
          <a:off x="0" y="0"/>
          <a:ext cx="0" cy="0"/>
          <a:chOff x="0" y="0"/>
          <a:chExt cx="0" cy="0"/>
        </a:xfrm>
      </p:grpSpPr>
      <p:sp>
        <p:nvSpPr>
          <p:cNvPr name="Freeform 2" id="2"/>
          <p:cNvSpPr/>
          <p:nvPr/>
        </p:nvSpPr>
        <p:spPr>
          <a:xfrm flipH="false" flipV="false" rot="0">
            <a:off x="9810750" y="0"/>
            <a:ext cx="8477250" cy="10287000"/>
          </a:xfrm>
          <a:custGeom>
            <a:avLst/>
            <a:gdLst/>
            <a:ahLst/>
            <a:cxnLst/>
            <a:rect r="r" b="b" t="t" l="l"/>
            <a:pathLst>
              <a:path h="10287000" w="8477250">
                <a:moveTo>
                  <a:pt x="0" y="0"/>
                </a:moveTo>
                <a:lnTo>
                  <a:pt x="8477250" y="0"/>
                </a:lnTo>
                <a:lnTo>
                  <a:pt x="8477250" y="10287000"/>
                </a:lnTo>
                <a:lnTo>
                  <a:pt x="0" y="10287000"/>
                </a:lnTo>
                <a:lnTo>
                  <a:pt x="0" y="0"/>
                </a:lnTo>
                <a:close/>
              </a:path>
            </a:pathLst>
          </a:custGeom>
          <a:blipFill>
            <a:blip r:embed="rId2"/>
            <a:stretch>
              <a:fillRect l="0" t="-19" r="0" b="-19"/>
            </a:stretch>
          </a:blipFill>
          <a:ln cap="sq">
            <a:noFill/>
            <a:prstDash val="solid"/>
            <a:miter/>
          </a:ln>
        </p:spPr>
      </p:sp>
      <p:sp>
        <p:nvSpPr>
          <p:cNvPr name="TextBox 3" id="3"/>
          <p:cNvSpPr txBox="true"/>
          <p:nvPr/>
        </p:nvSpPr>
        <p:spPr>
          <a:xfrm rot="0">
            <a:off x="952500" y="800100"/>
            <a:ext cx="16383000" cy="630174"/>
          </a:xfrm>
          <a:prstGeom prst="rect">
            <a:avLst/>
          </a:prstGeom>
        </p:spPr>
        <p:txBody>
          <a:bodyPr anchor="t" rtlCol="false" tIns="0" lIns="0" bIns="0" rIns="0">
            <a:spAutoFit/>
          </a:bodyPr>
          <a:lstStyle/>
          <a:p>
            <a:pPr algn="l">
              <a:lnSpc>
                <a:spcPts val="4743"/>
              </a:lnSpc>
            </a:pPr>
            <a:r>
              <a:rPr lang="en-US" sz="4650" b="true">
                <a:solidFill>
                  <a:srgbClr val="172235"/>
                </a:solidFill>
                <a:latin typeface="Cormorant Garamond Bold"/>
                <a:ea typeface="Cormorant Garamond Bold"/>
                <a:cs typeface="Cormorant Garamond Bold"/>
                <a:sym typeface="Cormorant Garamond Bold"/>
              </a:rPr>
              <a:t>AI đang tái định hình hệ sinh thái giáo dục</a:t>
            </a:r>
          </a:p>
        </p:txBody>
      </p:sp>
      <p:grpSp>
        <p:nvGrpSpPr>
          <p:cNvPr name="Group 4" id="4"/>
          <p:cNvGrpSpPr/>
          <p:nvPr/>
        </p:nvGrpSpPr>
        <p:grpSpPr>
          <a:xfrm rot="0">
            <a:off x="952500" y="2571750"/>
            <a:ext cx="57150" cy="2000250"/>
            <a:chOff x="0" y="0"/>
            <a:chExt cx="76200" cy="2667000"/>
          </a:xfrm>
        </p:grpSpPr>
        <p:sp>
          <p:nvSpPr>
            <p:cNvPr name="Freeform 5" id="5"/>
            <p:cNvSpPr/>
            <p:nvPr/>
          </p:nvSpPr>
          <p:spPr>
            <a:xfrm flipH="false" flipV="false" rot="0">
              <a:off x="0" y="0"/>
              <a:ext cx="76200" cy="2667000"/>
            </a:xfrm>
            <a:custGeom>
              <a:avLst/>
              <a:gdLst/>
              <a:ahLst/>
              <a:cxnLst/>
              <a:rect r="r" b="b" t="t" l="l"/>
              <a:pathLst>
                <a:path h="2667000" w="76200">
                  <a:moveTo>
                    <a:pt x="0" y="0"/>
                  </a:moveTo>
                  <a:lnTo>
                    <a:pt x="76200" y="0"/>
                  </a:lnTo>
                  <a:lnTo>
                    <a:pt x="76200" y="2667000"/>
                  </a:lnTo>
                  <a:lnTo>
                    <a:pt x="0" y="2667000"/>
                  </a:lnTo>
                  <a:close/>
                </a:path>
              </a:pathLst>
            </a:custGeom>
            <a:solidFill>
              <a:srgbClr val="B79352"/>
            </a:solidFill>
            <a:ln cap="sq">
              <a:noFill/>
              <a:prstDash val="solid"/>
              <a:miter/>
            </a:ln>
          </p:spPr>
        </p:sp>
        <p:sp>
          <p:nvSpPr>
            <p:cNvPr name="TextBox 6" id="6"/>
            <p:cNvSpPr txBox="true"/>
            <p:nvPr/>
          </p:nvSpPr>
          <p:spPr>
            <a:xfrm>
              <a:off x="0" y="-38100"/>
              <a:ext cx="76200" cy="2705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952500" y="2952750"/>
            <a:ext cx="7429500" cy="1377315"/>
          </a:xfrm>
          <a:prstGeom prst="rect">
            <a:avLst/>
          </a:prstGeom>
        </p:spPr>
        <p:txBody>
          <a:bodyPr anchor="t" rtlCol="false" tIns="0" lIns="0" bIns="0" rIns="0">
            <a:spAutoFit/>
          </a:bodyPr>
          <a:lstStyle/>
          <a:p>
            <a:pPr algn="l">
              <a:lnSpc>
                <a:spcPts val="5355"/>
              </a:lnSpc>
            </a:pPr>
            <a:r>
              <a:rPr lang="en-US" sz="5250" b="true">
                <a:solidFill>
                  <a:srgbClr val="172235"/>
                </a:solidFill>
                <a:latin typeface="Cormorant Garamond Bold"/>
                <a:ea typeface="Cormorant Garamond Bold"/>
                <a:cs typeface="Cormorant Garamond Bold"/>
                <a:sym typeface="Cormorant Garamond Bold"/>
              </a:rPr>
              <a:t>Từ công cụ hỗ trợ</a:t>
            </a:r>
          </a:p>
          <a:p>
            <a:pPr algn="l">
              <a:lnSpc>
                <a:spcPts val="5355"/>
              </a:lnSpc>
            </a:pPr>
            <a:r>
              <a:rPr lang="en-US" sz="5250" b="true">
                <a:solidFill>
                  <a:srgbClr val="172235"/>
                </a:solidFill>
                <a:latin typeface="Cormorant Garamond Bold"/>
                <a:ea typeface="Cormorant Garamond Bold"/>
                <a:cs typeface="Cormorant Garamond Bold"/>
                <a:sym typeface="Cormorant Garamond Bold"/>
              </a:rPr>
              <a:t>đến hạ tầng học tập</a:t>
            </a:r>
          </a:p>
        </p:txBody>
      </p:sp>
      <p:sp>
        <p:nvSpPr>
          <p:cNvPr name="TextBox 8" id="8"/>
          <p:cNvSpPr txBox="true"/>
          <p:nvPr/>
        </p:nvSpPr>
        <p:spPr>
          <a:xfrm rot="0">
            <a:off x="952500" y="5057775"/>
            <a:ext cx="7239000" cy="1900238"/>
          </a:xfrm>
          <a:prstGeom prst="rect">
            <a:avLst/>
          </a:prstGeom>
        </p:spPr>
        <p:txBody>
          <a:bodyPr anchor="t" rtlCol="false" tIns="0" lIns="0" bIns="0" rIns="0">
            <a:spAutoFit/>
          </a:bodyPr>
          <a:lstStyle/>
          <a:p>
            <a:pPr algn="l">
              <a:lnSpc>
                <a:spcPts val="3037"/>
              </a:lnSpc>
            </a:pPr>
            <a:r>
              <a:rPr lang="en-US" sz="2250">
                <a:solidFill>
                  <a:srgbClr val="697386"/>
                </a:solidFill>
                <a:latin typeface="Montserrat"/>
                <a:ea typeface="Montserrat"/>
                <a:cs typeface="Montserrat"/>
                <a:sym typeface="Montserrat"/>
              </a:rPr>
              <a:t>Sự phát triển nhanh của AI và CNTT đang mở rộng khả năng cá nhân hóa, tự động hóa đánh giá và kết nối trải nghiệm học tập. Giá trị không nằm ở việc thay thế giáo viên, mà ở việc trao cho họ dữ liệu và công cụ để hỗ trợ từng người học tốt hơn.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3EFE6"/>
        </a:solidFill>
      </p:bgPr>
    </p:bg>
    <p:spTree>
      <p:nvGrpSpPr>
        <p:cNvPr id="1" name=""/>
        <p:cNvGrpSpPr/>
        <p:nvPr/>
      </p:nvGrpSpPr>
      <p:grpSpPr>
        <a:xfrm>
          <a:off x="0" y="0"/>
          <a:ext cx="0" cy="0"/>
          <a:chOff x="0" y="0"/>
          <a:chExt cx="0" cy="0"/>
        </a:xfrm>
      </p:grpSpPr>
      <p:sp>
        <p:nvSpPr>
          <p:cNvPr name="TextBox 2" id="2"/>
          <p:cNvSpPr txBox="true"/>
          <p:nvPr/>
        </p:nvSpPr>
        <p:spPr>
          <a:xfrm rot="0">
            <a:off x="952500" y="800100"/>
            <a:ext cx="16383000" cy="630174"/>
          </a:xfrm>
          <a:prstGeom prst="rect">
            <a:avLst/>
          </a:prstGeom>
        </p:spPr>
        <p:txBody>
          <a:bodyPr anchor="t" rtlCol="false" tIns="0" lIns="0" bIns="0" rIns="0">
            <a:spAutoFit/>
          </a:bodyPr>
          <a:lstStyle/>
          <a:p>
            <a:pPr algn="l">
              <a:lnSpc>
                <a:spcPts val="4743"/>
              </a:lnSpc>
            </a:pPr>
            <a:r>
              <a:rPr lang="en-US" sz="4650" b="true">
                <a:solidFill>
                  <a:srgbClr val="172235"/>
                </a:solidFill>
                <a:latin typeface="Cormorant Garamond Bold"/>
                <a:ea typeface="Cormorant Garamond Bold"/>
                <a:cs typeface="Cormorant Garamond Bold"/>
                <a:sym typeface="Cormorant Garamond Bold"/>
              </a:rPr>
              <a:t>4 nhóm công cụ AI nổi bật</a:t>
            </a:r>
          </a:p>
        </p:txBody>
      </p:sp>
      <p:grpSp>
        <p:nvGrpSpPr>
          <p:cNvPr name="Group 3" id="3"/>
          <p:cNvGrpSpPr/>
          <p:nvPr/>
        </p:nvGrpSpPr>
        <p:grpSpPr>
          <a:xfrm rot="0">
            <a:off x="952500" y="2238375"/>
            <a:ext cx="7524750" cy="2857500"/>
            <a:chOff x="0" y="0"/>
            <a:chExt cx="10033000" cy="3810000"/>
          </a:xfrm>
        </p:grpSpPr>
        <p:grpSp>
          <p:nvGrpSpPr>
            <p:cNvPr name="Group 4" id="4"/>
            <p:cNvGrpSpPr/>
            <p:nvPr/>
          </p:nvGrpSpPr>
          <p:grpSpPr>
            <a:xfrm rot="0">
              <a:off x="0" y="0"/>
              <a:ext cx="10033000" cy="3810000"/>
              <a:chOff x="0" y="0"/>
              <a:chExt cx="10033000" cy="3810000"/>
            </a:xfrm>
          </p:grpSpPr>
          <p:sp>
            <p:nvSpPr>
              <p:cNvPr name="Freeform 5" id="5"/>
              <p:cNvSpPr/>
              <p:nvPr/>
            </p:nvSpPr>
            <p:spPr>
              <a:xfrm flipH="false" flipV="false" rot="0">
                <a:off x="0" y="0"/>
                <a:ext cx="10033000" cy="3810000"/>
              </a:xfrm>
              <a:custGeom>
                <a:avLst/>
                <a:gdLst/>
                <a:ahLst/>
                <a:cxnLst/>
                <a:rect r="r" b="b" t="t" l="l"/>
                <a:pathLst>
                  <a:path h="3810000" w="10033000">
                    <a:moveTo>
                      <a:pt x="0" y="0"/>
                    </a:moveTo>
                    <a:lnTo>
                      <a:pt x="10033000" y="0"/>
                    </a:lnTo>
                    <a:lnTo>
                      <a:pt x="10033000" y="3810000"/>
                    </a:lnTo>
                    <a:lnTo>
                      <a:pt x="0" y="3810000"/>
                    </a:lnTo>
                    <a:close/>
                  </a:path>
                </a:pathLst>
              </a:custGeom>
              <a:solidFill>
                <a:srgbClr val="FFFFFF"/>
              </a:solidFill>
              <a:ln cap="sq">
                <a:noFill/>
                <a:prstDash val="solid"/>
                <a:miter/>
              </a:ln>
            </p:spPr>
          </p:sp>
          <p:sp>
            <p:nvSpPr>
              <p:cNvPr name="TextBox 6" id="6"/>
              <p:cNvSpPr txBox="true"/>
              <p:nvPr/>
            </p:nvSpPr>
            <p:spPr>
              <a:xfrm>
                <a:off x="0" y="-38100"/>
                <a:ext cx="10033000" cy="3848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406400" y="333375"/>
              <a:ext cx="9220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01  Trợ lý học tập</a:t>
              </a:r>
            </a:p>
          </p:txBody>
        </p:sp>
        <p:sp>
          <p:nvSpPr>
            <p:cNvPr name="TextBox 8" id="8"/>
            <p:cNvSpPr txBox="true"/>
            <p:nvPr/>
          </p:nvSpPr>
          <p:spPr>
            <a:xfrm rot="0">
              <a:off x="406400" y="1012825"/>
              <a:ext cx="9220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Hội thoại, giải thích và gợi ý lộ trình cá nhân hóa.</a:t>
              </a:r>
            </a:p>
          </p:txBody>
        </p:sp>
      </p:grpSp>
      <p:grpSp>
        <p:nvGrpSpPr>
          <p:cNvPr name="Group 9" id="9"/>
          <p:cNvGrpSpPr/>
          <p:nvPr/>
        </p:nvGrpSpPr>
        <p:grpSpPr>
          <a:xfrm rot="0">
            <a:off x="9239250" y="2238375"/>
            <a:ext cx="7524750" cy="2857500"/>
            <a:chOff x="0" y="0"/>
            <a:chExt cx="10033000" cy="3810000"/>
          </a:xfrm>
        </p:grpSpPr>
        <p:grpSp>
          <p:nvGrpSpPr>
            <p:cNvPr name="Group 10" id="10"/>
            <p:cNvGrpSpPr/>
            <p:nvPr/>
          </p:nvGrpSpPr>
          <p:grpSpPr>
            <a:xfrm rot="0">
              <a:off x="0" y="0"/>
              <a:ext cx="10033000" cy="3810000"/>
              <a:chOff x="0" y="0"/>
              <a:chExt cx="10033000" cy="3810000"/>
            </a:xfrm>
          </p:grpSpPr>
          <p:sp>
            <p:nvSpPr>
              <p:cNvPr name="Freeform 11" id="11"/>
              <p:cNvSpPr/>
              <p:nvPr/>
            </p:nvSpPr>
            <p:spPr>
              <a:xfrm flipH="false" flipV="false" rot="0">
                <a:off x="0" y="0"/>
                <a:ext cx="10033000" cy="3810000"/>
              </a:xfrm>
              <a:custGeom>
                <a:avLst/>
                <a:gdLst/>
                <a:ahLst/>
                <a:cxnLst/>
                <a:rect r="r" b="b" t="t" l="l"/>
                <a:pathLst>
                  <a:path h="3810000" w="10033000">
                    <a:moveTo>
                      <a:pt x="0" y="0"/>
                    </a:moveTo>
                    <a:lnTo>
                      <a:pt x="10033000" y="0"/>
                    </a:lnTo>
                    <a:lnTo>
                      <a:pt x="10033000" y="3810000"/>
                    </a:lnTo>
                    <a:lnTo>
                      <a:pt x="0" y="3810000"/>
                    </a:lnTo>
                    <a:close/>
                  </a:path>
                </a:pathLst>
              </a:custGeom>
              <a:solidFill>
                <a:srgbClr val="FFFFFF"/>
              </a:solidFill>
              <a:ln cap="sq">
                <a:noFill/>
                <a:prstDash val="solid"/>
                <a:miter/>
              </a:ln>
            </p:spPr>
          </p:sp>
          <p:sp>
            <p:nvSpPr>
              <p:cNvPr name="TextBox 12" id="12"/>
              <p:cNvSpPr txBox="true"/>
              <p:nvPr/>
            </p:nvSpPr>
            <p:spPr>
              <a:xfrm>
                <a:off x="0" y="-38100"/>
                <a:ext cx="10033000" cy="3848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406400" y="333375"/>
              <a:ext cx="9220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02  Đánh giá thông minh</a:t>
              </a:r>
            </a:p>
          </p:txBody>
        </p:sp>
        <p:sp>
          <p:nvSpPr>
            <p:cNvPr name="TextBox 14" id="14"/>
            <p:cNvSpPr txBox="true"/>
            <p:nvPr/>
          </p:nvSpPr>
          <p:spPr>
            <a:xfrm rot="0">
              <a:off x="406400" y="1012825"/>
              <a:ext cx="9220200" cy="9150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Chấm điểm tự động, phát hiện khoảng trống kiến thức.</a:t>
              </a:r>
            </a:p>
          </p:txBody>
        </p:sp>
      </p:grpSp>
      <p:grpSp>
        <p:nvGrpSpPr>
          <p:cNvPr name="Group 15" id="15"/>
          <p:cNvGrpSpPr/>
          <p:nvPr/>
        </p:nvGrpSpPr>
        <p:grpSpPr>
          <a:xfrm rot="0">
            <a:off x="952500" y="5715000"/>
            <a:ext cx="7524750" cy="2857500"/>
            <a:chOff x="0" y="0"/>
            <a:chExt cx="10033000" cy="3810000"/>
          </a:xfrm>
        </p:grpSpPr>
        <p:grpSp>
          <p:nvGrpSpPr>
            <p:cNvPr name="Group 16" id="16"/>
            <p:cNvGrpSpPr/>
            <p:nvPr/>
          </p:nvGrpSpPr>
          <p:grpSpPr>
            <a:xfrm rot="0">
              <a:off x="0" y="0"/>
              <a:ext cx="10033000" cy="3810000"/>
              <a:chOff x="0" y="0"/>
              <a:chExt cx="10033000" cy="3810000"/>
            </a:xfrm>
          </p:grpSpPr>
          <p:sp>
            <p:nvSpPr>
              <p:cNvPr name="Freeform 17" id="17"/>
              <p:cNvSpPr/>
              <p:nvPr/>
            </p:nvSpPr>
            <p:spPr>
              <a:xfrm flipH="false" flipV="false" rot="0">
                <a:off x="0" y="0"/>
                <a:ext cx="10033000" cy="3810000"/>
              </a:xfrm>
              <a:custGeom>
                <a:avLst/>
                <a:gdLst/>
                <a:ahLst/>
                <a:cxnLst/>
                <a:rect r="r" b="b" t="t" l="l"/>
                <a:pathLst>
                  <a:path h="3810000" w="10033000">
                    <a:moveTo>
                      <a:pt x="0" y="0"/>
                    </a:moveTo>
                    <a:lnTo>
                      <a:pt x="10033000" y="0"/>
                    </a:lnTo>
                    <a:lnTo>
                      <a:pt x="10033000" y="3810000"/>
                    </a:lnTo>
                    <a:lnTo>
                      <a:pt x="0" y="3810000"/>
                    </a:lnTo>
                    <a:close/>
                  </a:path>
                </a:pathLst>
              </a:custGeom>
              <a:solidFill>
                <a:srgbClr val="FFFFFF"/>
              </a:solidFill>
              <a:ln cap="sq">
                <a:noFill/>
                <a:prstDash val="solid"/>
                <a:miter/>
              </a:ln>
            </p:spPr>
          </p:sp>
          <p:sp>
            <p:nvSpPr>
              <p:cNvPr name="TextBox 18" id="18"/>
              <p:cNvSpPr txBox="true"/>
              <p:nvPr/>
            </p:nvSpPr>
            <p:spPr>
              <a:xfrm>
                <a:off x="0" y="-38100"/>
                <a:ext cx="10033000" cy="3848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406400" y="333375"/>
              <a:ext cx="9220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03  Tạo nội dung</a:t>
              </a:r>
            </a:p>
          </p:txBody>
        </p:sp>
        <p:sp>
          <p:nvSpPr>
            <p:cNvPr name="TextBox 20" id="20"/>
            <p:cNvSpPr txBox="true"/>
            <p:nvPr/>
          </p:nvSpPr>
          <p:spPr>
            <a:xfrm rot="0">
              <a:off x="406400" y="1012825"/>
              <a:ext cx="9220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Soạn bài giảng, câu hỏi và học liệu theo ngữ cảnh.</a:t>
              </a:r>
            </a:p>
          </p:txBody>
        </p:sp>
      </p:grpSp>
      <p:grpSp>
        <p:nvGrpSpPr>
          <p:cNvPr name="Group 21" id="21"/>
          <p:cNvGrpSpPr/>
          <p:nvPr/>
        </p:nvGrpSpPr>
        <p:grpSpPr>
          <a:xfrm rot="0">
            <a:off x="9239250" y="5715000"/>
            <a:ext cx="7524750" cy="2857500"/>
            <a:chOff x="0" y="0"/>
            <a:chExt cx="10033000" cy="3810000"/>
          </a:xfrm>
        </p:grpSpPr>
        <p:grpSp>
          <p:nvGrpSpPr>
            <p:cNvPr name="Group 22" id="22"/>
            <p:cNvGrpSpPr/>
            <p:nvPr/>
          </p:nvGrpSpPr>
          <p:grpSpPr>
            <a:xfrm rot="0">
              <a:off x="0" y="0"/>
              <a:ext cx="10033000" cy="3810000"/>
              <a:chOff x="0" y="0"/>
              <a:chExt cx="10033000" cy="3810000"/>
            </a:xfrm>
          </p:grpSpPr>
          <p:sp>
            <p:nvSpPr>
              <p:cNvPr name="Freeform 23" id="23"/>
              <p:cNvSpPr/>
              <p:nvPr/>
            </p:nvSpPr>
            <p:spPr>
              <a:xfrm flipH="false" flipV="false" rot="0">
                <a:off x="0" y="0"/>
                <a:ext cx="10033000" cy="3810000"/>
              </a:xfrm>
              <a:custGeom>
                <a:avLst/>
                <a:gdLst/>
                <a:ahLst/>
                <a:cxnLst/>
                <a:rect r="r" b="b" t="t" l="l"/>
                <a:pathLst>
                  <a:path h="3810000" w="10033000">
                    <a:moveTo>
                      <a:pt x="0" y="0"/>
                    </a:moveTo>
                    <a:lnTo>
                      <a:pt x="10033000" y="0"/>
                    </a:lnTo>
                    <a:lnTo>
                      <a:pt x="10033000" y="3810000"/>
                    </a:lnTo>
                    <a:lnTo>
                      <a:pt x="0" y="3810000"/>
                    </a:lnTo>
                    <a:close/>
                  </a:path>
                </a:pathLst>
              </a:custGeom>
              <a:solidFill>
                <a:srgbClr val="FFFFFF"/>
              </a:solidFill>
              <a:ln cap="sq">
                <a:noFill/>
                <a:prstDash val="solid"/>
                <a:miter/>
              </a:ln>
            </p:spPr>
          </p:sp>
          <p:sp>
            <p:nvSpPr>
              <p:cNvPr name="TextBox 24" id="24"/>
              <p:cNvSpPr txBox="true"/>
              <p:nvPr/>
            </p:nvSpPr>
            <p:spPr>
              <a:xfrm>
                <a:off x="0" y="-38100"/>
                <a:ext cx="10033000" cy="3848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406400" y="333375"/>
              <a:ext cx="9220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04  Mô phỏng &amp; XR</a:t>
              </a:r>
            </a:p>
          </p:txBody>
        </p:sp>
        <p:sp>
          <p:nvSpPr>
            <p:cNvPr name="TextBox 26" id="26"/>
            <p:cNvSpPr txBox="true"/>
            <p:nvPr/>
          </p:nvSpPr>
          <p:spPr>
            <a:xfrm rot="0">
              <a:off x="406400" y="1012825"/>
              <a:ext cx="9220200" cy="9150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Trải nghiệm thực hành nhập vai, an toàn và trực quan.</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101B2D"/>
        </a:solidFill>
      </p:bgPr>
    </p:bg>
    <p:spTree>
      <p:nvGrpSpPr>
        <p:cNvPr id="1" name=""/>
        <p:cNvGrpSpPr/>
        <p:nvPr/>
      </p:nvGrpSpPr>
      <p:grpSpPr>
        <a:xfrm>
          <a:off x="0" y="0"/>
          <a:ext cx="0" cy="0"/>
          <a:chOff x="0" y="0"/>
          <a:chExt cx="0" cy="0"/>
        </a:xfrm>
      </p:grpSpPr>
      <p:sp>
        <p:nvSpPr>
          <p:cNvPr name="TextBox 2" id="2"/>
          <p:cNvSpPr txBox="true"/>
          <p:nvPr/>
        </p:nvSpPr>
        <p:spPr>
          <a:xfrm rot="0">
            <a:off x="952500" y="800100"/>
            <a:ext cx="16383000" cy="630174"/>
          </a:xfrm>
          <a:prstGeom prst="rect">
            <a:avLst/>
          </a:prstGeom>
        </p:spPr>
        <p:txBody>
          <a:bodyPr anchor="t" rtlCol="false" tIns="0" lIns="0" bIns="0" rIns="0">
            <a:spAutoFit/>
          </a:bodyPr>
          <a:lstStyle/>
          <a:p>
            <a:pPr algn="l">
              <a:lnSpc>
                <a:spcPts val="4743"/>
              </a:lnSpc>
            </a:pPr>
            <a:r>
              <a:rPr lang="en-US" sz="4650" b="true">
                <a:solidFill>
                  <a:srgbClr val="FFFFFF"/>
                </a:solidFill>
                <a:latin typeface="Cormorant Garamond Bold"/>
                <a:ea typeface="Cormorant Garamond Bold"/>
                <a:cs typeface="Cormorant Garamond Bold"/>
                <a:sym typeface="Cormorant Garamond Bold"/>
              </a:rPr>
              <a:t>Từ truyền đạt một chiều đến trải nghiệm thích ứng</a:t>
            </a:r>
          </a:p>
        </p:txBody>
      </p:sp>
      <p:grpSp>
        <p:nvGrpSpPr>
          <p:cNvPr name="Group 3" id="3"/>
          <p:cNvGrpSpPr/>
          <p:nvPr/>
        </p:nvGrpSpPr>
        <p:grpSpPr>
          <a:xfrm rot="0">
            <a:off x="1047750" y="2428875"/>
            <a:ext cx="7239000" cy="5905500"/>
            <a:chOff x="0" y="0"/>
            <a:chExt cx="9652000" cy="7874000"/>
          </a:xfrm>
        </p:grpSpPr>
        <p:grpSp>
          <p:nvGrpSpPr>
            <p:cNvPr name="Group 4" id="4"/>
            <p:cNvGrpSpPr/>
            <p:nvPr/>
          </p:nvGrpSpPr>
          <p:grpSpPr>
            <a:xfrm rot="0">
              <a:off x="0" y="0"/>
              <a:ext cx="9652000" cy="7874000"/>
              <a:chOff x="0" y="0"/>
              <a:chExt cx="9652000" cy="7874000"/>
            </a:xfrm>
          </p:grpSpPr>
          <p:sp>
            <p:nvSpPr>
              <p:cNvPr name="Freeform 5" id="5"/>
              <p:cNvSpPr/>
              <p:nvPr/>
            </p:nvSpPr>
            <p:spPr>
              <a:xfrm flipH="false" flipV="false" rot="0">
                <a:off x="0" y="0"/>
                <a:ext cx="9652000" cy="7874000"/>
              </a:xfrm>
              <a:custGeom>
                <a:avLst/>
                <a:gdLst/>
                <a:ahLst/>
                <a:cxnLst/>
                <a:rect r="r" b="b" t="t" l="l"/>
                <a:pathLst>
                  <a:path h="7874000" w="9652000">
                    <a:moveTo>
                      <a:pt x="0" y="0"/>
                    </a:moveTo>
                    <a:lnTo>
                      <a:pt x="9652000" y="0"/>
                    </a:lnTo>
                    <a:lnTo>
                      <a:pt x="9652000" y="7874000"/>
                    </a:lnTo>
                    <a:lnTo>
                      <a:pt x="0" y="7874000"/>
                    </a:lnTo>
                    <a:close/>
                  </a:path>
                </a:pathLst>
              </a:custGeom>
              <a:solidFill>
                <a:srgbClr val="192941"/>
              </a:solidFill>
              <a:ln cap="sq">
                <a:noFill/>
                <a:prstDash val="solid"/>
                <a:miter/>
              </a:ln>
            </p:spPr>
          </p:sp>
          <p:sp>
            <p:nvSpPr>
              <p:cNvPr name="TextBox 6" id="6"/>
              <p:cNvSpPr txBox="true"/>
              <p:nvPr/>
            </p:nvSpPr>
            <p:spPr>
              <a:xfrm>
                <a:off x="0" y="-38100"/>
                <a:ext cx="9652000" cy="7912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406400" y="333375"/>
              <a:ext cx="8839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TRƯỚC</a:t>
              </a:r>
            </a:p>
          </p:txBody>
        </p:sp>
        <p:sp>
          <p:nvSpPr>
            <p:cNvPr name="TextBox 8" id="8"/>
            <p:cNvSpPr txBox="true"/>
            <p:nvPr/>
          </p:nvSpPr>
          <p:spPr>
            <a:xfrm rot="0">
              <a:off x="406400" y="1012825"/>
              <a:ext cx="8839200" cy="3264535"/>
            </a:xfrm>
            <a:prstGeom prst="rect">
              <a:avLst/>
            </a:prstGeom>
          </p:spPr>
          <p:txBody>
            <a:bodyPr anchor="t" rtlCol="false" tIns="0" lIns="0" bIns="0" rIns="0">
              <a:spAutoFit/>
            </a:bodyPr>
            <a:lstStyle/>
            <a:p>
              <a:pPr algn="l">
                <a:lnSpc>
                  <a:spcPts val="2835"/>
                </a:lnSpc>
              </a:pPr>
              <a:r>
                <a:rPr lang="en-US" sz="2100">
                  <a:solidFill>
                    <a:srgbClr val="FFFFFF"/>
                  </a:solidFill>
                  <a:latin typeface="Montserrat"/>
                  <a:ea typeface="Montserrat"/>
                  <a:cs typeface="Montserrat"/>
                  <a:sym typeface="Montserrat"/>
                </a:rPr>
                <a:t>Giảng viên là trung tâm</a:t>
              </a:r>
            </a:p>
            <a:p>
              <a:pPr algn="l">
                <a:lnSpc>
                  <a:spcPts val="2835"/>
                </a:lnSpc>
              </a:pPr>
            </a:p>
            <a:p>
              <a:pPr algn="l">
                <a:lnSpc>
                  <a:spcPts val="2835"/>
                </a:lnSpc>
              </a:pPr>
              <a:r>
                <a:rPr lang="en-US" sz="2100">
                  <a:solidFill>
                    <a:srgbClr val="FFFFFF"/>
                  </a:solidFill>
                  <a:latin typeface="Montserrat"/>
                  <a:ea typeface="Montserrat"/>
                  <a:cs typeface="Montserrat"/>
                  <a:sym typeface="Montserrat"/>
                </a:rPr>
                <a:t>Nội dung đồng nhất</a:t>
              </a:r>
            </a:p>
            <a:p>
              <a:pPr algn="l">
                <a:lnSpc>
                  <a:spcPts val="2835"/>
                </a:lnSpc>
              </a:pPr>
            </a:p>
            <a:p>
              <a:pPr algn="l">
                <a:lnSpc>
                  <a:spcPts val="2835"/>
                </a:lnSpc>
              </a:pPr>
              <a:r>
                <a:rPr lang="en-US" sz="2100">
                  <a:solidFill>
                    <a:srgbClr val="FFFFFF"/>
                  </a:solidFill>
                  <a:latin typeface="Montserrat"/>
                  <a:ea typeface="Montserrat"/>
                  <a:cs typeface="Montserrat"/>
                  <a:sym typeface="Montserrat"/>
                </a:rPr>
                <a:t>Phản hồi theo chu kỳ</a:t>
              </a:r>
            </a:p>
            <a:p>
              <a:pPr algn="l">
                <a:lnSpc>
                  <a:spcPts val="2835"/>
                </a:lnSpc>
              </a:pPr>
            </a:p>
            <a:p>
              <a:pPr algn="l">
                <a:lnSpc>
                  <a:spcPts val="2835"/>
                </a:lnSpc>
              </a:pPr>
              <a:r>
                <a:rPr lang="en-US" sz="2100">
                  <a:solidFill>
                    <a:srgbClr val="FFFFFF"/>
                  </a:solidFill>
                  <a:latin typeface="Montserrat"/>
                  <a:ea typeface="Montserrat"/>
                  <a:cs typeface="Montserrat"/>
                  <a:sym typeface="Montserrat"/>
                </a:rPr>
                <a:t>Đánh giá sau quá trình</a:t>
              </a:r>
            </a:p>
          </p:txBody>
        </p:sp>
      </p:grpSp>
      <p:sp>
        <p:nvSpPr>
          <p:cNvPr name="AutoShape 9" id="9"/>
          <p:cNvSpPr/>
          <p:nvPr/>
        </p:nvSpPr>
        <p:spPr>
          <a:xfrm>
            <a:off x="8572500" y="5381625"/>
            <a:ext cx="1047750" cy="0"/>
          </a:xfrm>
          <a:prstGeom prst="line">
            <a:avLst/>
          </a:prstGeom>
          <a:ln cap="rnd" w="47625">
            <a:solidFill>
              <a:srgbClr val="43B8C9"/>
            </a:solidFill>
            <a:prstDash val="solid"/>
            <a:headEnd type="none" len="sm" w="sm"/>
            <a:tailEnd type="arrow" len="sm" w="med"/>
          </a:ln>
        </p:spPr>
      </p:sp>
      <p:grpSp>
        <p:nvGrpSpPr>
          <p:cNvPr name="Group 10" id="10"/>
          <p:cNvGrpSpPr/>
          <p:nvPr/>
        </p:nvGrpSpPr>
        <p:grpSpPr>
          <a:xfrm rot="0">
            <a:off x="10001250" y="2428875"/>
            <a:ext cx="7239000" cy="5905500"/>
            <a:chOff x="0" y="0"/>
            <a:chExt cx="9652000" cy="7874000"/>
          </a:xfrm>
        </p:grpSpPr>
        <p:grpSp>
          <p:nvGrpSpPr>
            <p:cNvPr name="Group 11" id="11"/>
            <p:cNvGrpSpPr/>
            <p:nvPr/>
          </p:nvGrpSpPr>
          <p:grpSpPr>
            <a:xfrm rot="0">
              <a:off x="0" y="0"/>
              <a:ext cx="9652000" cy="7874000"/>
              <a:chOff x="0" y="0"/>
              <a:chExt cx="9652000" cy="7874000"/>
            </a:xfrm>
          </p:grpSpPr>
          <p:sp>
            <p:nvSpPr>
              <p:cNvPr name="Freeform 12" id="12"/>
              <p:cNvSpPr/>
              <p:nvPr/>
            </p:nvSpPr>
            <p:spPr>
              <a:xfrm flipH="false" flipV="false" rot="0">
                <a:off x="0" y="0"/>
                <a:ext cx="9652000" cy="7874000"/>
              </a:xfrm>
              <a:custGeom>
                <a:avLst/>
                <a:gdLst/>
                <a:ahLst/>
                <a:cxnLst/>
                <a:rect r="r" b="b" t="t" l="l"/>
                <a:pathLst>
                  <a:path h="7874000" w="9652000">
                    <a:moveTo>
                      <a:pt x="0" y="0"/>
                    </a:moveTo>
                    <a:lnTo>
                      <a:pt x="9652000" y="0"/>
                    </a:lnTo>
                    <a:lnTo>
                      <a:pt x="9652000" y="7874000"/>
                    </a:lnTo>
                    <a:lnTo>
                      <a:pt x="0" y="7874000"/>
                    </a:lnTo>
                    <a:close/>
                  </a:path>
                </a:pathLst>
              </a:custGeom>
              <a:solidFill>
                <a:srgbClr val="192941"/>
              </a:solidFill>
              <a:ln cap="sq">
                <a:noFill/>
                <a:prstDash val="solid"/>
                <a:miter/>
              </a:ln>
            </p:spPr>
          </p:sp>
          <p:sp>
            <p:nvSpPr>
              <p:cNvPr name="TextBox 13" id="13"/>
              <p:cNvSpPr txBox="true"/>
              <p:nvPr/>
            </p:nvSpPr>
            <p:spPr>
              <a:xfrm>
                <a:off x="0" y="-38100"/>
                <a:ext cx="9652000" cy="7912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406400" y="333375"/>
              <a:ext cx="8839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SAU KHI ỨNG DỤNG AI</a:t>
              </a:r>
            </a:p>
          </p:txBody>
        </p:sp>
        <p:sp>
          <p:nvSpPr>
            <p:cNvPr name="TextBox 15" id="15"/>
            <p:cNvSpPr txBox="true"/>
            <p:nvPr/>
          </p:nvSpPr>
          <p:spPr>
            <a:xfrm rot="0">
              <a:off x="406400" y="1012825"/>
              <a:ext cx="8839200" cy="3264535"/>
            </a:xfrm>
            <a:prstGeom prst="rect">
              <a:avLst/>
            </a:prstGeom>
          </p:spPr>
          <p:txBody>
            <a:bodyPr anchor="t" rtlCol="false" tIns="0" lIns="0" bIns="0" rIns="0">
              <a:spAutoFit/>
            </a:bodyPr>
            <a:lstStyle/>
            <a:p>
              <a:pPr algn="l">
                <a:lnSpc>
                  <a:spcPts val="2835"/>
                </a:lnSpc>
              </a:pPr>
              <a:r>
                <a:rPr lang="en-US" sz="2100">
                  <a:solidFill>
                    <a:srgbClr val="FFFFFF"/>
                  </a:solidFill>
                  <a:latin typeface="Montserrat"/>
                  <a:ea typeface="Montserrat"/>
                  <a:cs typeface="Montserrat"/>
                  <a:sym typeface="Montserrat"/>
                </a:rPr>
                <a:t>Người học là trung tâm</a:t>
              </a:r>
            </a:p>
            <a:p>
              <a:pPr algn="l">
                <a:lnSpc>
                  <a:spcPts val="2835"/>
                </a:lnSpc>
              </a:pPr>
            </a:p>
            <a:p>
              <a:pPr algn="l">
                <a:lnSpc>
                  <a:spcPts val="2835"/>
                </a:lnSpc>
              </a:pPr>
              <a:r>
                <a:rPr lang="en-US" sz="2100">
                  <a:solidFill>
                    <a:srgbClr val="FFFFFF"/>
                  </a:solidFill>
                  <a:latin typeface="Montserrat"/>
                  <a:ea typeface="Montserrat"/>
                  <a:cs typeface="Montserrat"/>
                  <a:sym typeface="Montserrat"/>
                </a:rPr>
                <a:t>Lộ trình cá nhân hóa</a:t>
              </a:r>
            </a:p>
            <a:p>
              <a:pPr algn="l">
                <a:lnSpc>
                  <a:spcPts val="2835"/>
                </a:lnSpc>
              </a:pPr>
            </a:p>
            <a:p>
              <a:pPr algn="l">
                <a:lnSpc>
                  <a:spcPts val="2835"/>
                </a:lnSpc>
              </a:pPr>
              <a:r>
                <a:rPr lang="en-US" sz="2100">
                  <a:solidFill>
                    <a:srgbClr val="FFFFFF"/>
                  </a:solidFill>
                  <a:latin typeface="Montserrat"/>
                  <a:ea typeface="Montserrat"/>
                  <a:cs typeface="Montserrat"/>
                  <a:sym typeface="Montserrat"/>
                </a:rPr>
                <a:t>Tương tác và phản hồi tức thời</a:t>
              </a:r>
            </a:p>
            <a:p>
              <a:pPr algn="l">
                <a:lnSpc>
                  <a:spcPts val="2835"/>
                </a:lnSpc>
              </a:pPr>
            </a:p>
            <a:p>
              <a:pPr algn="l">
                <a:lnSpc>
                  <a:spcPts val="2835"/>
                </a:lnSpc>
              </a:pPr>
              <a:r>
                <a:rPr lang="en-US" sz="2100">
                  <a:solidFill>
                    <a:srgbClr val="FFFFFF"/>
                  </a:solidFill>
                  <a:latin typeface="Montserrat"/>
                  <a:ea typeface="Montserrat"/>
                  <a:cs typeface="Montserrat"/>
                  <a:sym typeface="Montserrat"/>
                </a:rPr>
                <a:t>Đánh giá liên tục</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EFE6"/>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239000" cy="10287000"/>
          </a:xfrm>
          <a:custGeom>
            <a:avLst/>
            <a:gdLst/>
            <a:ahLst/>
            <a:cxnLst/>
            <a:rect r="r" b="b" t="t" l="l"/>
            <a:pathLst>
              <a:path h="10287000" w="7239000">
                <a:moveTo>
                  <a:pt x="0" y="0"/>
                </a:moveTo>
                <a:lnTo>
                  <a:pt x="7239000" y="0"/>
                </a:lnTo>
                <a:lnTo>
                  <a:pt x="7239000" y="10287000"/>
                </a:lnTo>
                <a:lnTo>
                  <a:pt x="0" y="10287000"/>
                </a:lnTo>
                <a:lnTo>
                  <a:pt x="0" y="0"/>
                </a:lnTo>
                <a:close/>
              </a:path>
            </a:pathLst>
          </a:custGeom>
          <a:blipFill>
            <a:blip r:embed="rId2"/>
            <a:stretch>
              <a:fillRect l="-3" t="0" r="-3" b="0"/>
            </a:stretch>
          </a:blipFill>
          <a:ln cap="sq">
            <a:noFill/>
            <a:prstDash val="solid"/>
            <a:miter/>
          </a:ln>
        </p:spPr>
      </p:sp>
      <p:sp>
        <p:nvSpPr>
          <p:cNvPr name="TextBox 3" id="3"/>
          <p:cNvSpPr txBox="true"/>
          <p:nvPr/>
        </p:nvSpPr>
        <p:spPr>
          <a:xfrm rot="0">
            <a:off x="8096250" y="990600"/>
            <a:ext cx="8572500" cy="1428369"/>
          </a:xfrm>
          <a:prstGeom prst="rect">
            <a:avLst/>
          </a:prstGeom>
        </p:spPr>
        <p:txBody>
          <a:bodyPr anchor="t" rtlCol="false" tIns="0" lIns="0" bIns="0" rIns="0">
            <a:spAutoFit/>
          </a:bodyPr>
          <a:lstStyle/>
          <a:p>
            <a:pPr algn="l">
              <a:lnSpc>
                <a:spcPts val="5508"/>
              </a:lnSpc>
            </a:pPr>
            <a:r>
              <a:rPr lang="en-US" sz="5400" b="true">
                <a:solidFill>
                  <a:srgbClr val="172235"/>
                </a:solidFill>
                <a:latin typeface="Cormorant Garamond Bold"/>
                <a:ea typeface="Cormorant Garamond Bold"/>
                <a:cs typeface="Cormorant Garamond Bold"/>
                <a:sym typeface="Cormorant Garamond Bold"/>
              </a:rPr>
              <a:t>Ba mô hình</a:t>
            </a:r>
          </a:p>
          <a:p>
            <a:pPr algn="l">
              <a:lnSpc>
                <a:spcPts val="5508"/>
              </a:lnSpc>
            </a:pPr>
            <a:r>
              <a:rPr lang="en-US" sz="5400" b="true">
                <a:solidFill>
                  <a:srgbClr val="172235"/>
                </a:solidFill>
                <a:latin typeface="Cormorant Garamond Bold"/>
                <a:ea typeface="Cormorant Garamond Bold"/>
                <a:cs typeface="Cormorant Garamond Bold"/>
                <a:sym typeface="Cormorant Garamond Bold"/>
              </a:rPr>
              <a:t>đã tạo tác động</a:t>
            </a:r>
          </a:p>
        </p:txBody>
      </p:sp>
      <p:grpSp>
        <p:nvGrpSpPr>
          <p:cNvPr name="Group 4" id="4"/>
          <p:cNvGrpSpPr/>
          <p:nvPr/>
        </p:nvGrpSpPr>
        <p:grpSpPr>
          <a:xfrm rot="0">
            <a:off x="8096250" y="3143250"/>
            <a:ext cx="8572500" cy="1666875"/>
            <a:chOff x="0" y="0"/>
            <a:chExt cx="11430000" cy="2222500"/>
          </a:xfrm>
        </p:grpSpPr>
        <p:grpSp>
          <p:nvGrpSpPr>
            <p:cNvPr name="Group 5" id="5"/>
            <p:cNvGrpSpPr/>
            <p:nvPr/>
          </p:nvGrpSpPr>
          <p:grpSpPr>
            <a:xfrm rot="0">
              <a:off x="0" y="0"/>
              <a:ext cx="11430000" cy="2222500"/>
              <a:chOff x="0" y="0"/>
              <a:chExt cx="11430000" cy="2222500"/>
            </a:xfrm>
          </p:grpSpPr>
          <p:sp>
            <p:nvSpPr>
              <p:cNvPr name="Freeform 6" id="6"/>
              <p:cNvSpPr/>
              <p:nvPr/>
            </p:nvSpPr>
            <p:spPr>
              <a:xfrm flipH="false" flipV="false" rot="0">
                <a:off x="0" y="0"/>
                <a:ext cx="11430000" cy="2222500"/>
              </a:xfrm>
              <a:custGeom>
                <a:avLst/>
                <a:gdLst/>
                <a:ahLst/>
                <a:cxnLst/>
                <a:rect r="r" b="b" t="t" l="l"/>
                <a:pathLst>
                  <a:path h="2222500" w="11430000">
                    <a:moveTo>
                      <a:pt x="0" y="0"/>
                    </a:moveTo>
                    <a:lnTo>
                      <a:pt x="11430000" y="0"/>
                    </a:lnTo>
                    <a:lnTo>
                      <a:pt x="11430000" y="2222500"/>
                    </a:lnTo>
                    <a:lnTo>
                      <a:pt x="0" y="2222500"/>
                    </a:lnTo>
                    <a:close/>
                  </a:path>
                </a:pathLst>
              </a:custGeom>
              <a:solidFill>
                <a:srgbClr val="FFFFFF"/>
              </a:solidFill>
              <a:ln cap="sq">
                <a:noFill/>
                <a:prstDash val="solid"/>
                <a:miter/>
              </a:ln>
            </p:spPr>
          </p:sp>
          <p:sp>
            <p:nvSpPr>
              <p:cNvPr name="TextBox 7" id="7"/>
              <p:cNvSpPr txBox="true"/>
              <p:nvPr/>
            </p:nvSpPr>
            <p:spPr>
              <a:xfrm>
                <a:off x="0" y="-38100"/>
                <a:ext cx="11430000" cy="22606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406400" y="333375"/>
              <a:ext cx="10617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01  Chatbot học đường</a:t>
              </a:r>
            </a:p>
          </p:txBody>
        </p:sp>
        <p:sp>
          <p:nvSpPr>
            <p:cNvPr name="TextBox 9" id="9"/>
            <p:cNvSpPr txBox="true"/>
            <p:nvPr/>
          </p:nvSpPr>
          <p:spPr>
            <a:xfrm rot="0">
              <a:off x="406400" y="1012825"/>
              <a:ext cx="10617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Hỗ trợ học sinh 24/7</a:t>
              </a:r>
            </a:p>
          </p:txBody>
        </p:sp>
      </p:grpSp>
      <p:grpSp>
        <p:nvGrpSpPr>
          <p:cNvPr name="Group 10" id="10"/>
          <p:cNvGrpSpPr/>
          <p:nvPr/>
        </p:nvGrpSpPr>
        <p:grpSpPr>
          <a:xfrm rot="0">
            <a:off x="8096250" y="5191125"/>
            <a:ext cx="8572500" cy="1666875"/>
            <a:chOff x="0" y="0"/>
            <a:chExt cx="11430000" cy="2222500"/>
          </a:xfrm>
        </p:grpSpPr>
        <p:grpSp>
          <p:nvGrpSpPr>
            <p:cNvPr name="Group 11" id="11"/>
            <p:cNvGrpSpPr/>
            <p:nvPr/>
          </p:nvGrpSpPr>
          <p:grpSpPr>
            <a:xfrm rot="0">
              <a:off x="0" y="0"/>
              <a:ext cx="11430000" cy="2222500"/>
              <a:chOff x="0" y="0"/>
              <a:chExt cx="11430000" cy="2222500"/>
            </a:xfrm>
          </p:grpSpPr>
          <p:sp>
            <p:nvSpPr>
              <p:cNvPr name="Freeform 12" id="12"/>
              <p:cNvSpPr/>
              <p:nvPr/>
            </p:nvSpPr>
            <p:spPr>
              <a:xfrm flipH="false" flipV="false" rot="0">
                <a:off x="0" y="0"/>
                <a:ext cx="11430000" cy="2222500"/>
              </a:xfrm>
              <a:custGeom>
                <a:avLst/>
                <a:gdLst/>
                <a:ahLst/>
                <a:cxnLst/>
                <a:rect r="r" b="b" t="t" l="l"/>
                <a:pathLst>
                  <a:path h="2222500" w="11430000">
                    <a:moveTo>
                      <a:pt x="0" y="0"/>
                    </a:moveTo>
                    <a:lnTo>
                      <a:pt x="11430000" y="0"/>
                    </a:lnTo>
                    <a:lnTo>
                      <a:pt x="11430000" y="2222500"/>
                    </a:lnTo>
                    <a:lnTo>
                      <a:pt x="0" y="2222500"/>
                    </a:lnTo>
                    <a:close/>
                  </a:path>
                </a:pathLst>
              </a:custGeom>
              <a:solidFill>
                <a:srgbClr val="FFFFFF"/>
              </a:solidFill>
              <a:ln cap="sq">
                <a:noFill/>
                <a:prstDash val="solid"/>
                <a:miter/>
              </a:ln>
            </p:spPr>
          </p:sp>
          <p:sp>
            <p:nvSpPr>
              <p:cNvPr name="TextBox 13" id="13"/>
              <p:cNvSpPr txBox="true"/>
              <p:nvPr/>
            </p:nvSpPr>
            <p:spPr>
              <a:xfrm>
                <a:off x="0" y="-38100"/>
                <a:ext cx="11430000" cy="22606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406400" y="333375"/>
              <a:ext cx="10617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02  Nền tảng thích ứng</a:t>
              </a:r>
            </a:p>
          </p:txBody>
        </p:sp>
        <p:sp>
          <p:nvSpPr>
            <p:cNvPr name="TextBox 15" id="15"/>
            <p:cNvSpPr txBox="true"/>
            <p:nvPr/>
          </p:nvSpPr>
          <p:spPr>
            <a:xfrm rot="0">
              <a:off x="406400" y="1012825"/>
              <a:ext cx="10617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Phân tích điểm yếu cá nhân</a:t>
              </a:r>
            </a:p>
          </p:txBody>
        </p:sp>
      </p:grpSp>
      <p:grpSp>
        <p:nvGrpSpPr>
          <p:cNvPr name="Group 16" id="16"/>
          <p:cNvGrpSpPr/>
          <p:nvPr/>
        </p:nvGrpSpPr>
        <p:grpSpPr>
          <a:xfrm rot="0">
            <a:off x="8096250" y="7239000"/>
            <a:ext cx="8572500" cy="1666875"/>
            <a:chOff x="0" y="0"/>
            <a:chExt cx="11430000" cy="2222500"/>
          </a:xfrm>
        </p:grpSpPr>
        <p:grpSp>
          <p:nvGrpSpPr>
            <p:cNvPr name="Group 17" id="17"/>
            <p:cNvGrpSpPr/>
            <p:nvPr/>
          </p:nvGrpSpPr>
          <p:grpSpPr>
            <a:xfrm rot="0">
              <a:off x="0" y="0"/>
              <a:ext cx="11430000" cy="2222500"/>
              <a:chOff x="0" y="0"/>
              <a:chExt cx="11430000" cy="2222500"/>
            </a:xfrm>
          </p:grpSpPr>
          <p:sp>
            <p:nvSpPr>
              <p:cNvPr name="Freeform 18" id="18"/>
              <p:cNvSpPr/>
              <p:nvPr/>
            </p:nvSpPr>
            <p:spPr>
              <a:xfrm flipH="false" flipV="false" rot="0">
                <a:off x="0" y="0"/>
                <a:ext cx="11430000" cy="2222500"/>
              </a:xfrm>
              <a:custGeom>
                <a:avLst/>
                <a:gdLst/>
                <a:ahLst/>
                <a:cxnLst/>
                <a:rect r="r" b="b" t="t" l="l"/>
                <a:pathLst>
                  <a:path h="2222500" w="11430000">
                    <a:moveTo>
                      <a:pt x="0" y="0"/>
                    </a:moveTo>
                    <a:lnTo>
                      <a:pt x="11430000" y="0"/>
                    </a:lnTo>
                    <a:lnTo>
                      <a:pt x="11430000" y="2222500"/>
                    </a:lnTo>
                    <a:lnTo>
                      <a:pt x="0" y="2222500"/>
                    </a:lnTo>
                    <a:close/>
                  </a:path>
                </a:pathLst>
              </a:custGeom>
              <a:solidFill>
                <a:srgbClr val="FFFFFF"/>
              </a:solidFill>
              <a:ln cap="sq">
                <a:noFill/>
                <a:prstDash val="solid"/>
                <a:miter/>
              </a:ln>
            </p:spPr>
          </p:sp>
          <p:sp>
            <p:nvSpPr>
              <p:cNvPr name="TextBox 19" id="19"/>
              <p:cNvSpPr txBox="true"/>
              <p:nvPr/>
            </p:nvSpPr>
            <p:spPr>
              <a:xfrm>
                <a:off x="0" y="-38100"/>
                <a:ext cx="11430000" cy="22606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406400" y="333375"/>
              <a:ext cx="10617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03  VR kết hợp AI</a:t>
              </a:r>
            </a:p>
          </p:txBody>
        </p:sp>
        <p:sp>
          <p:nvSpPr>
            <p:cNvPr name="TextBox 21" id="21"/>
            <p:cNvSpPr txBox="true"/>
            <p:nvPr/>
          </p:nvSpPr>
          <p:spPr>
            <a:xfrm rot="0">
              <a:off x="406400" y="1012825"/>
              <a:ext cx="10617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Đào tạo kỹ năng thực hành</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3EFE6"/>
        </a:solidFill>
      </p:bgPr>
    </p:bg>
    <p:spTree>
      <p:nvGrpSpPr>
        <p:cNvPr id="1" name=""/>
        <p:cNvGrpSpPr/>
        <p:nvPr/>
      </p:nvGrpSpPr>
      <p:grpSpPr>
        <a:xfrm>
          <a:off x="0" y="0"/>
          <a:ext cx="0" cy="0"/>
          <a:chOff x="0" y="0"/>
          <a:chExt cx="0" cy="0"/>
        </a:xfrm>
      </p:grpSpPr>
      <p:sp>
        <p:nvSpPr>
          <p:cNvPr name="TextBox 2" id="2"/>
          <p:cNvSpPr txBox="true"/>
          <p:nvPr/>
        </p:nvSpPr>
        <p:spPr>
          <a:xfrm rot="0">
            <a:off x="952500" y="800100"/>
            <a:ext cx="16383000" cy="630174"/>
          </a:xfrm>
          <a:prstGeom prst="rect">
            <a:avLst/>
          </a:prstGeom>
        </p:spPr>
        <p:txBody>
          <a:bodyPr anchor="t" rtlCol="false" tIns="0" lIns="0" bIns="0" rIns="0">
            <a:spAutoFit/>
          </a:bodyPr>
          <a:lstStyle/>
          <a:p>
            <a:pPr algn="l">
              <a:lnSpc>
                <a:spcPts val="4743"/>
              </a:lnSpc>
            </a:pPr>
            <a:r>
              <a:rPr lang="en-US" sz="4650" b="true">
                <a:solidFill>
                  <a:srgbClr val="172235"/>
                </a:solidFill>
                <a:latin typeface="Cormorant Garamond Bold"/>
                <a:ea typeface="Cormorant Garamond Bold"/>
                <a:cs typeface="Cormorant Garamond Bold"/>
                <a:sym typeface="Cormorant Garamond Bold"/>
              </a:rPr>
              <a:t>AI mở rộng năng lực của cả người dạy và người học</a:t>
            </a:r>
          </a:p>
        </p:txBody>
      </p:sp>
      <p:grpSp>
        <p:nvGrpSpPr>
          <p:cNvPr name="Group 3" id="3"/>
          <p:cNvGrpSpPr/>
          <p:nvPr/>
        </p:nvGrpSpPr>
        <p:grpSpPr>
          <a:xfrm rot="0">
            <a:off x="7239000" y="3714750"/>
            <a:ext cx="3810000" cy="2095500"/>
            <a:chOff x="0" y="0"/>
            <a:chExt cx="5080000" cy="2794000"/>
          </a:xfrm>
        </p:grpSpPr>
        <p:sp>
          <p:nvSpPr>
            <p:cNvPr name="Freeform 4" id="4"/>
            <p:cNvSpPr/>
            <p:nvPr/>
          </p:nvSpPr>
          <p:spPr>
            <a:xfrm flipH="false" flipV="false" rot="0">
              <a:off x="0" y="0"/>
              <a:ext cx="5080000" cy="2794000"/>
            </a:xfrm>
            <a:custGeom>
              <a:avLst/>
              <a:gdLst/>
              <a:ahLst/>
              <a:cxnLst/>
              <a:rect r="r" b="b" t="t" l="l"/>
              <a:pathLst>
                <a:path h="2794000" w="5080000">
                  <a:moveTo>
                    <a:pt x="2540000" y="0"/>
                  </a:moveTo>
                  <a:cubicBezTo>
                    <a:pt x="3942803" y="0"/>
                    <a:pt x="5080000" y="625458"/>
                    <a:pt x="5080000" y="1397000"/>
                  </a:cubicBezTo>
                  <a:cubicBezTo>
                    <a:pt x="5080000" y="2168542"/>
                    <a:pt x="3942803" y="2794000"/>
                    <a:pt x="2540000" y="2794000"/>
                  </a:cubicBezTo>
                  <a:cubicBezTo>
                    <a:pt x="1137197" y="2794000"/>
                    <a:pt x="0" y="2168542"/>
                    <a:pt x="0" y="1397000"/>
                  </a:cubicBezTo>
                  <a:cubicBezTo>
                    <a:pt x="0" y="625458"/>
                    <a:pt x="1137197" y="0"/>
                    <a:pt x="2540000" y="0"/>
                  </a:cubicBezTo>
                  <a:close/>
                </a:path>
              </a:pathLst>
            </a:custGeom>
            <a:solidFill>
              <a:srgbClr val="101B2D"/>
            </a:solidFill>
            <a:ln cap="sq">
              <a:noFill/>
              <a:prstDash val="solid"/>
              <a:miter/>
            </a:ln>
          </p:spPr>
        </p:sp>
        <p:sp>
          <p:nvSpPr>
            <p:cNvPr name="TextBox 5" id="5"/>
            <p:cNvSpPr txBox="true"/>
            <p:nvPr/>
          </p:nvSpPr>
          <p:spPr>
            <a:xfrm>
              <a:off x="0" y="-47625"/>
              <a:ext cx="5080000" cy="2841625"/>
            </a:xfrm>
            <a:prstGeom prst="rect">
              <a:avLst/>
            </a:prstGeom>
          </p:spPr>
          <p:txBody>
            <a:bodyPr anchor="ctr" rtlCol="false" tIns="50800" lIns="50800" bIns="50800" rIns="50800"/>
            <a:lstStyle/>
            <a:p>
              <a:pPr algn="ctr">
                <a:lnSpc>
                  <a:spcPts val="3149"/>
                </a:lnSpc>
              </a:pPr>
              <a:r>
                <a:rPr lang="en-US" sz="2250" b="true">
                  <a:solidFill>
                    <a:srgbClr val="FFFFFF"/>
                  </a:solidFill>
                  <a:latin typeface="Montserrat Bold"/>
                  <a:ea typeface="Montserrat Bold"/>
                  <a:cs typeface="Montserrat Bold"/>
                  <a:sym typeface="Montserrat Bold"/>
                </a:rPr>
                <a:t>GIÁO DỤC</a:t>
              </a:r>
            </a:p>
            <a:p>
              <a:pPr algn="ctr">
                <a:lnSpc>
                  <a:spcPts val="3149"/>
                </a:lnSpc>
              </a:pPr>
              <a:r>
                <a:rPr lang="en-US" sz="2250" b="true">
                  <a:solidFill>
                    <a:srgbClr val="FFFFFF"/>
                  </a:solidFill>
                  <a:latin typeface="Montserrat Bold"/>
                  <a:ea typeface="Montserrat Bold"/>
                  <a:cs typeface="Montserrat Bold"/>
                  <a:sym typeface="Montserrat Bold"/>
                </a:rPr>
                <a:t>THÍCH ỨNG</a:t>
              </a:r>
            </a:p>
          </p:txBody>
        </p:sp>
      </p:grpSp>
      <p:grpSp>
        <p:nvGrpSpPr>
          <p:cNvPr name="Group 6" id="6"/>
          <p:cNvGrpSpPr/>
          <p:nvPr/>
        </p:nvGrpSpPr>
        <p:grpSpPr>
          <a:xfrm rot="0">
            <a:off x="1143000" y="2381250"/>
            <a:ext cx="5715000" cy="2095500"/>
            <a:chOff x="0" y="0"/>
            <a:chExt cx="7620000" cy="2794000"/>
          </a:xfrm>
        </p:grpSpPr>
        <p:grpSp>
          <p:nvGrpSpPr>
            <p:cNvPr name="Group 7" id="7"/>
            <p:cNvGrpSpPr/>
            <p:nvPr/>
          </p:nvGrpSpPr>
          <p:grpSpPr>
            <a:xfrm rot="0">
              <a:off x="0" y="0"/>
              <a:ext cx="7620000" cy="2794000"/>
              <a:chOff x="0" y="0"/>
              <a:chExt cx="7620000" cy="2794000"/>
            </a:xfrm>
          </p:grpSpPr>
          <p:sp>
            <p:nvSpPr>
              <p:cNvPr name="Freeform 8" id="8"/>
              <p:cNvSpPr/>
              <p:nvPr/>
            </p:nvSpPr>
            <p:spPr>
              <a:xfrm flipH="false" flipV="false" rot="0">
                <a:off x="0" y="0"/>
                <a:ext cx="7620000" cy="2794000"/>
              </a:xfrm>
              <a:custGeom>
                <a:avLst/>
                <a:gdLst/>
                <a:ahLst/>
                <a:cxnLst/>
                <a:rect r="r" b="b" t="t" l="l"/>
                <a:pathLst>
                  <a:path h="2794000" w="7620000">
                    <a:moveTo>
                      <a:pt x="0" y="0"/>
                    </a:moveTo>
                    <a:lnTo>
                      <a:pt x="7620000" y="0"/>
                    </a:lnTo>
                    <a:lnTo>
                      <a:pt x="7620000" y="2794000"/>
                    </a:lnTo>
                    <a:lnTo>
                      <a:pt x="0" y="2794000"/>
                    </a:lnTo>
                    <a:close/>
                  </a:path>
                </a:pathLst>
              </a:custGeom>
              <a:solidFill>
                <a:srgbClr val="FFFFFF"/>
              </a:solidFill>
              <a:ln cap="sq">
                <a:noFill/>
                <a:prstDash val="solid"/>
                <a:miter/>
              </a:ln>
            </p:spPr>
          </p:sp>
          <p:sp>
            <p:nvSpPr>
              <p:cNvPr name="TextBox 9" id="9"/>
              <p:cNvSpPr txBox="true"/>
              <p:nvPr/>
            </p:nvSpPr>
            <p:spPr>
              <a:xfrm>
                <a:off x="0" y="-38100"/>
                <a:ext cx="7620000" cy="2832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406400" y="333375"/>
              <a:ext cx="6807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01  Cá nhân hóa</a:t>
              </a:r>
            </a:p>
          </p:txBody>
        </p:sp>
        <p:sp>
          <p:nvSpPr>
            <p:cNvPr name="TextBox 11" id="11"/>
            <p:cNvSpPr txBox="true"/>
            <p:nvPr/>
          </p:nvSpPr>
          <p:spPr>
            <a:xfrm rot="0">
              <a:off x="406400" y="1012825"/>
              <a:ext cx="6807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Lộ trình theo năng lực</a:t>
              </a:r>
            </a:p>
          </p:txBody>
        </p:sp>
      </p:grpSp>
      <p:grpSp>
        <p:nvGrpSpPr>
          <p:cNvPr name="Group 12" id="12"/>
          <p:cNvGrpSpPr/>
          <p:nvPr/>
        </p:nvGrpSpPr>
        <p:grpSpPr>
          <a:xfrm rot="0">
            <a:off x="11430000" y="2381250"/>
            <a:ext cx="5715000" cy="2095500"/>
            <a:chOff x="0" y="0"/>
            <a:chExt cx="7620000" cy="2794000"/>
          </a:xfrm>
        </p:grpSpPr>
        <p:grpSp>
          <p:nvGrpSpPr>
            <p:cNvPr name="Group 13" id="13"/>
            <p:cNvGrpSpPr/>
            <p:nvPr/>
          </p:nvGrpSpPr>
          <p:grpSpPr>
            <a:xfrm rot="0">
              <a:off x="0" y="0"/>
              <a:ext cx="7620000" cy="2794000"/>
              <a:chOff x="0" y="0"/>
              <a:chExt cx="7620000" cy="2794000"/>
            </a:xfrm>
          </p:grpSpPr>
          <p:sp>
            <p:nvSpPr>
              <p:cNvPr name="Freeform 14" id="14"/>
              <p:cNvSpPr/>
              <p:nvPr/>
            </p:nvSpPr>
            <p:spPr>
              <a:xfrm flipH="false" flipV="false" rot="0">
                <a:off x="0" y="0"/>
                <a:ext cx="7620000" cy="2794000"/>
              </a:xfrm>
              <a:custGeom>
                <a:avLst/>
                <a:gdLst/>
                <a:ahLst/>
                <a:cxnLst/>
                <a:rect r="r" b="b" t="t" l="l"/>
                <a:pathLst>
                  <a:path h="2794000" w="7620000">
                    <a:moveTo>
                      <a:pt x="0" y="0"/>
                    </a:moveTo>
                    <a:lnTo>
                      <a:pt x="7620000" y="0"/>
                    </a:lnTo>
                    <a:lnTo>
                      <a:pt x="7620000" y="2794000"/>
                    </a:lnTo>
                    <a:lnTo>
                      <a:pt x="0" y="2794000"/>
                    </a:lnTo>
                    <a:close/>
                  </a:path>
                </a:pathLst>
              </a:custGeom>
              <a:solidFill>
                <a:srgbClr val="FFFFFF"/>
              </a:solidFill>
              <a:ln cap="sq">
                <a:noFill/>
                <a:prstDash val="solid"/>
                <a:miter/>
              </a:ln>
            </p:spPr>
          </p:sp>
          <p:sp>
            <p:nvSpPr>
              <p:cNvPr name="TextBox 15" id="15"/>
              <p:cNvSpPr txBox="true"/>
              <p:nvPr/>
            </p:nvSpPr>
            <p:spPr>
              <a:xfrm>
                <a:off x="0" y="-38100"/>
                <a:ext cx="7620000" cy="2832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406400" y="333375"/>
              <a:ext cx="6807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02  Tối ưu vận hành</a:t>
              </a:r>
            </a:p>
          </p:txBody>
        </p:sp>
        <p:sp>
          <p:nvSpPr>
            <p:cNvPr name="TextBox 17" id="17"/>
            <p:cNvSpPr txBox="true"/>
            <p:nvPr/>
          </p:nvSpPr>
          <p:spPr>
            <a:xfrm rot="0">
              <a:off x="406400" y="1012825"/>
              <a:ext cx="6807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Dạy và quản lý hiệu quả</a:t>
              </a:r>
            </a:p>
          </p:txBody>
        </p:sp>
      </p:grpSp>
      <p:grpSp>
        <p:nvGrpSpPr>
          <p:cNvPr name="Group 18" id="18"/>
          <p:cNvGrpSpPr/>
          <p:nvPr/>
        </p:nvGrpSpPr>
        <p:grpSpPr>
          <a:xfrm rot="0">
            <a:off x="1143000" y="6667500"/>
            <a:ext cx="5715000" cy="2095500"/>
            <a:chOff x="0" y="0"/>
            <a:chExt cx="7620000" cy="2794000"/>
          </a:xfrm>
        </p:grpSpPr>
        <p:grpSp>
          <p:nvGrpSpPr>
            <p:cNvPr name="Group 19" id="19"/>
            <p:cNvGrpSpPr/>
            <p:nvPr/>
          </p:nvGrpSpPr>
          <p:grpSpPr>
            <a:xfrm rot="0">
              <a:off x="0" y="0"/>
              <a:ext cx="7620000" cy="2794000"/>
              <a:chOff x="0" y="0"/>
              <a:chExt cx="7620000" cy="2794000"/>
            </a:xfrm>
          </p:grpSpPr>
          <p:sp>
            <p:nvSpPr>
              <p:cNvPr name="Freeform 20" id="20"/>
              <p:cNvSpPr/>
              <p:nvPr/>
            </p:nvSpPr>
            <p:spPr>
              <a:xfrm flipH="false" flipV="false" rot="0">
                <a:off x="0" y="0"/>
                <a:ext cx="7620000" cy="2794000"/>
              </a:xfrm>
              <a:custGeom>
                <a:avLst/>
                <a:gdLst/>
                <a:ahLst/>
                <a:cxnLst/>
                <a:rect r="r" b="b" t="t" l="l"/>
                <a:pathLst>
                  <a:path h="2794000" w="7620000">
                    <a:moveTo>
                      <a:pt x="0" y="0"/>
                    </a:moveTo>
                    <a:lnTo>
                      <a:pt x="7620000" y="0"/>
                    </a:lnTo>
                    <a:lnTo>
                      <a:pt x="7620000" y="2794000"/>
                    </a:lnTo>
                    <a:lnTo>
                      <a:pt x="0" y="2794000"/>
                    </a:lnTo>
                    <a:close/>
                  </a:path>
                </a:pathLst>
              </a:custGeom>
              <a:solidFill>
                <a:srgbClr val="FFFFFF"/>
              </a:solidFill>
              <a:ln cap="sq">
                <a:noFill/>
                <a:prstDash val="solid"/>
                <a:miter/>
              </a:ln>
            </p:spPr>
          </p:sp>
          <p:sp>
            <p:nvSpPr>
              <p:cNvPr name="TextBox 21" id="21"/>
              <p:cNvSpPr txBox="true"/>
              <p:nvPr/>
            </p:nvSpPr>
            <p:spPr>
              <a:xfrm>
                <a:off x="0" y="-38100"/>
                <a:ext cx="7620000" cy="2832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406400" y="333375"/>
              <a:ext cx="6807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03  Đánh giá chính xác</a:t>
              </a:r>
            </a:p>
          </p:txBody>
        </p:sp>
        <p:sp>
          <p:nvSpPr>
            <p:cNvPr name="TextBox 23" id="23"/>
            <p:cNvSpPr txBox="true"/>
            <p:nvPr/>
          </p:nvSpPr>
          <p:spPr>
            <a:xfrm rot="0">
              <a:off x="406400" y="1012825"/>
              <a:ext cx="6807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Phản hồi đúng thời điểm</a:t>
              </a:r>
            </a:p>
          </p:txBody>
        </p:sp>
      </p:grpSp>
      <p:grpSp>
        <p:nvGrpSpPr>
          <p:cNvPr name="Group 24" id="24"/>
          <p:cNvGrpSpPr/>
          <p:nvPr/>
        </p:nvGrpSpPr>
        <p:grpSpPr>
          <a:xfrm rot="0">
            <a:off x="11430000" y="6667500"/>
            <a:ext cx="5715000" cy="2095500"/>
            <a:chOff x="0" y="0"/>
            <a:chExt cx="7620000" cy="2794000"/>
          </a:xfrm>
        </p:grpSpPr>
        <p:grpSp>
          <p:nvGrpSpPr>
            <p:cNvPr name="Group 25" id="25"/>
            <p:cNvGrpSpPr/>
            <p:nvPr/>
          </p:nvGrpSpPr>
          <p:grpSpPr>
            <a:xfrm rot="0">
              <a:off x="0" y="0"/>
              <a:ext cx="7620000" cy="2794000"/>
              <a:chOff x="0" y="0"/>
              <a:chExt cx="7620000" cy="2794000"/>
            </a:xfrm>
          </p:grpSpPr>
          <p:sp>
            <p:nvSpPr>
              <p:cNvPr name="Freeform 26" id="26"/>
              <p:cNvSpPr/>
              <p:nvPr/>
            </p:nvSpPr>
            <p:spPr>
              <a:xfrm flipH="false" flipV="false" rot="0">
                <a:off x="0" y="0"/>
                <a:ext cx="7620000" cy="2794000"/>
              </a:xfrm>
              <a:custGeom>
                <a:avLst/>
                <a:gdLst/>
                <a:ahLst/>
                <a:cxnLst/>
                <a:rect r="r" b="b" t="t" l="l"/>
                <a:pathLst>
                  <a:path h="2794000" w="7620000">
                    <a:moveTo>
                      <a:pt x="0" y="0"/>
                    </a:moveTo>
                    <a:lnTo>
                      <a:pt x="7620000" y="0"/>
                    </a:lnTo>
                    <a:lnTo>
                      <a:pt x="7620000" y="2794000"/>
                    </a:lnTo>
                    <a:lnTo>
                      <a:pt x="0" y="2794000"/>
                    </a:lnTo>
                    <a:close/>
                  </a:path>
                </a:pathLst>
              </a:custGeom>
              <a:solidFill>
                <a:srgbClr val="FFFFFF"/>
              </a:solidFill>
              <a:ln cap="sq">
                <a:noFill/>
                <a:prstDash val="solid"/>
                <a:miter/>
              </a:ln>
            </p:spPr>
          </p:sp>
          <p:sp>
            <p:nvSpPr>
              <p:cNvPr name="TextBox 27" id="27"/>
              <p:cNvSpPr txBox="true"/>
              <p:nvPr/>
            </p:nvSpPr>
            <p:spPr>
              <a:xfrm>
                <a:off x="0" y="-38100"/>
                <a:ext cx="7620000" cy="2832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406400" y="333375"/>
              <a:ext cx="6807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04  Học mọi nơi</a:t>
              </a:r>
            </a:p>
          </p:txBody>
        </p:sp>
        <p:sp>
          <p:nvSpPr>
            <p:cNvPr name="TextBox 29" id="29"/>
            <p:cNvSpPr txBox="true"/>
            <p:nvPr/>
          </p:nvSpPr>
          <p:spPr>
            <a:xfrm rot="0">
              <a:off x="406400" y="1012825"/>
              <a:ext cx="6807200" cy="4451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Vượt giới hạn lớp học</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01B2D"/>
        </a:solidFill>
      </p:bgPr>
    </p:bg>
    <p:spTree>
      <p:nvGrpSpPr>
        <p:cNvPr id="1" name=""/>
        <p:cNvGrpSpPr/>
        <p:nvPr/>
      </p:nvGrpSpPr>
      <p:grpSpPr>
        <a:xfrm>
          <a:off x="0" y="0"/>
          <a:ext cx="0" cy="0"/>
          <a:chOff x="0" y="0"/>
          <a:chExt cx="0" cy="0"/>
        </a:xfrm>
      </p:grpSpPr>
      <p:sp>
        <p:nvSpPr>
          <p:cNvPr name="TextBox 2" id="2"/>
          <p:cNvSpPr txBox="true"/>
          <p:nvPr/>
        </p:nvSpPr>
        <p:spPr>
          <a:xfrm rot="0">
            <a:off x="952500" y="800100"/>
            <a:ext cx="16383000" cy="630174"/>
          </a:xfrm>
          <a:prstGeom prst="rect">
            <a:avLst/>
          </a:prstGeom>
        </p:spPr>
        <p:txBody>
          <a:bodyPr anchor="t" rtlCol="false" tIns="0" lIns="0" bIns="0" rIns="0">
            <a:spAutoFit/>
          </a:bodyPr>
          <a:lstStyle/>
          <a:p>
            <a:pPr algn="l">
              <a:lnSpc>
                <a:spcPts val="4743"/>
              </a:lnSpc>
            </a:pPr>
            <a:r>
              <a:rPr lang="en-US" sz="4650" b="true">
                <a:solidFill>
                  <a:srgbClr val="FFFFFF"/>
                </a:solidFill>
                <a:latin typeface="Cormorant Garamond Bold"/>
                <a:ea typeface="Cormorant Garamond Bold"/>
                <a:cs typeface="Cormorant Garamond Bold"/>
                <a:sym typeface="Cormorant Garamond Bold"/>
              </a:rPr>
              <a:t>Đổi mới cần đi cùng niềm tin</a:t>
            </a:r>
          </a:p>
        </p:txBody>
      </p:sp>
      <p:sp>
        <p:nvSpPr>
          <p:cNvPr name="TextBox 3" id="3"/>
          <p:cNvSpPr txBox="true"/>
          <p:nvPr/>
        </p:nvSpPr>
        <p:spPr>
          <a:xfrm rot="0">
            <a:off x="1047750" y="2476500"/>
            <a:ext cx="7239000" cy="1925955"/>
          </a:xfrm>
          <a:prstGeom prst="rect">
            <a:avLst/>
          </a:prstGeom>
        </p:spPr>
        <p:txBody>
          <a:bodyPr anchor="t" rtlCol="false" tIns="0" lIns="0" bIns="0" rIns="0">
            <a:spAutoFit/>
          </a:bodyPr>
          <a:lstStyle/>
          <a:p>
            <a:pPr algn="l">
              <a:lnSpc>
                <a:spcPts val="14535"/>
              </a:lnSpc>
            </a:pPr>
            <a:r>
              <a:rPr lang="en-US" sz="14250" b="true">
                <a:solidFill>
                  <a:srgbClr val="B79352"/>
                </a:solidFill>
                <a:latin typeface="Cormorant Garamond Bold"/>
                <a:ea typeface="Cormorant Garamond Bold"/>
                <a:cs typeface="Cormorant Garamond Bold"/>
                <a:sym typeface="Cormorant Garamond Bold"/>
              </a:rPr>
              <a:t>45%</a:t>
            </a:r>
          </a:p>
        </p:txBody>
      </p:sp>
      <p:sp>
        <p:nvSpPr>
          <p:cNvPr name="TextBox 4" id="4"/>
          <p:cNvSpPr txBox="true"/>
          <p:nvPr/>
        </p:nvSpPr>
        <p:spPr>
          <a:xfrm rot="0">
            <a:off x="1143000" y="4391025"/>
            <a:ext cx="6572250" cy="1009650"/>
          </a:xfrm>
          <a:prstGeom prst="rect">
            <a:avLst/>
          </a:prstGeom>
        </p:spPr>
        <p:txBody>
          <a:bodyPr anchor="t" rtlCol="false" tIns="0" lIns="0" bIns="0" rIns="0">
            <a:spAutoFit/>
          </a:bodyPr>
          <a:lstStyle/>
          <a:p>
            <a:pPr algn="l">
              <a:lnSpc>
                <a:spcPts val="4050"/>
              </a:lnSpc>
            </a:pPr>
            <a:r>
              <a:rPr lang="en-US" sz="3000">
                <a:solidFill>
                  <a:srgbClr val="FFFFFF"/>
                </a:solidFill>
                <a:latin typeface="Montserrat"/>
                <a:ea typeface="Montserrat"/>
                <a:cs typeface="Montserrat"/>
                <a:sym typeface="Montserrat"/>
              </a:rPr>
              <a:t>giáo viên lo ngại về độ tin cậy của AI trong đánh giá</a:t>
            </a:r>
          </a:p>
        </p:txBody>
      </p:sp>
      <p:grpSp>
        <p:nvGrpSpPr>
          <p:cNvPr name="Group 5" id="5"/>
          <p:cNvGrpSpPr/>
          <p:nvPr/>
        </p:nvGrpSpPr>
        <p:grpSpPr>
          <a:xfrm rot="0">
            <a:off x="8667750" y="2143125"/>
            <a:ext cx="19050" cy="6191250"/>
            <a:chOff x="0" y="0"/>
            <a:chExt cx="25400" cy="8255000"/>
          </a:xfrm>
        </p:grpSpPr>
        <p:sp>
          <p:nvSpPr>
            <p:cNvPr name="Freeform 6" id="6"/>
            <p:cNvSpPr/>
            <p:nvPr/>
          </p:nvSpPr>
          <p:spPr>
            <a:xfrm flipH="false" flipV="false" rot="0">
              <a:off x="0" y="0"/>
              <a:ext cx="25400" cy="8255000"/>
            </a:xfrm>
            <a:custGeom>
              <a:avLst/>
              <a:gdLst/>
              <a:ahLst/>
              <a:cxnLst/>
              <a:rect r="r" b="b" t="t" l="l"/>
              <a:pathLst>
                <a:path h="8255000" w="25400">
                  <a:moveTo>
                    <a:pt x="0" y="0"/>
                  </a:moveTo>
                  <a:lnTo>
                    <a:pt x="25400" y="0"/>
                  </a:lnTo>
                  <a:lnTo>
                    <a:pt x="25400" y="8255000"/>
                  </a:lnTo>
                  <a:lnTo>
                    <a:pt x="0" y="8255000"/>
                  </a:lnTo>
                  <a:close/>
                </a:path>
              </a:pathLst>
            </a:custGeom>
            <a:solidFill>
              <a:srgbClr val="B79352"/>
            </a:solidFill>
            <a:ln cap="sq">
              <a:noFill/>
              <a:prstDash val="solid"/>
              <a:miter/>
            </a:ln>
          </p:spPr>
        </p:sp>
        <p:sp>
          <p:nvSpPr>
            <p:cNvPr name="TextBox 7" id="7"/>
            <p:cNvSpPr txBox="true"/>
            <p:nvPr/>
          </p:nvSpPr>
          <p:spPr>
            <a:xfrm>
              <a:off x="0" y="-38100"/>
              <a:ext cx="25400" cy="8293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9620250" y="2286000"/>
            <a:ext cx="6953250" cy="1666875"/>
            <a:chOff x="0" y="0"/>
            <a:chExt cx="9271000" cy="2222500"/>
          </a:xfrm>
        </p:grpSpPr>
        <p:grpSp>
          <p:nvGrpSpPr>
            <p:cNvPr name="Group 9" id="9"/>
            <p:cNvGrpSpPr/>
            <p:nvPr/>
          </p:nvGrpSpPr>
          <p:grpSpPr>
            <a:xfrm rot="0">
              <a:off x="0" y="0"/>
              <a:ext cx="9271000" cy="2222500"/>
              <a:chOff x="0" y="0"/>
              <a:chExt cx="9271000" cy="2222500"/>
            </a:xfrm>
          </p:grpSpPr>
          <p:sp>
            <p:nvSpPr>
              <p:cNvPr name="Freeform 10" id="10"/>
              <p:cNvSpPr/>
              <p:nvPr/>
            </p:nvSpPr>
            <p:spPr>
              <a:xfrm flipH="false" flipV="false" rot="0">
                <a:off x="0" y="0"/>
                <a:ext cx="9271000" cy="2222500"/>
              </a:xfrm>
              <a:custGeom>
                <a:avLst/>
                <a:gdLst/>
                <a:ahLst/>
                <a:cxnLst/>
                <a:rect r="r" b="b" t="t" l="l"/>
                <a:pathLst>
                  <a:path h="2222500" w="9271000">
                    <a:moveTo>
                      <a:pt x="0" y="0"/>
                    </a:moveTo>
                    <a:lnTo>
                      <a:pt x="9271000" y="0"/>
                    </a:lnTo>
                    <a:lnTo>
                      <a:pt x="9271000" y="2222500"/>
                    </a:lnTo>
                    <a:lnTo>
                      <a:pt x="0" y="2222500"/>
                    </a:lnTo>
                    <a:close/>
                  </a:path>
                </a:pathLst>
              </a:custGeom>
              <a:solidFill>
                <a:srgbClr val="192941"/>
              </a:solidFill>
              <a:ln cap="sq">
                <a:noFill/>
                <a:prstDash val="solid"/>
                <a:miter/>
              </a:ln>
            </p:spPr>
          </p:sp>
          <p:sp>
            <p:nvSpPr>
              <p:cNvPr name="TextBox 11" id="11"/>
              <p:cNvSpPr txBox="true"/>
              <p:nvPr/>
            </p:nvSpPr>
            <p:spPr>
              <a:xfrm>
                <a:off x="0" y="-38100"/>
                <a:ext cx="9271000" cy="22606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406400" y="333375"/>
              <a:ext cx="8458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01</a:t>
              </a:r>
            </a:p>
          </p:txBody>
        </p:sp>
        <p:sp>
          <p:nvSpPr>
            <p:cNvPr name="TextBox 13" id="13"/>
            <p:cNvSpPr txBox="true"/>
            <p:nvPr/>
          </p:nvSpPr>
          <p:spPr>
            <a:xfrm rot="0">
              <a:off x="406400" y="1012825"/>
              <a:ext cx="8458200" cy="445135"/>
            </a:xfrm>
            <a:prstGeom prst="rect">
              <a:avLst/>
            </a:prstGeom>
          </p:spPr>
          <p:txBody>
            <a:bodyPr anchor="t" rtlCol="false" tIns="0" lIns="0" bIns="0" rIns="0">
              <a:spAutoFit/>
            </a:bodyPr>
            <a:lstStyle/>
            <a:p>
              <a:pPr algn="l">
                <a:lnSpc>
                  <a:spcPts val="2835"/>
                </a:lnSpc>
              </a:pPr>
              <a:r>
                <a:rPr lang="en-US" sz="2100">
                  <a:solidFill>
                    <a:srgbClr val="FFFFFF"/>
                  </a:solidFill>
                  <a:latin typeface="Montserrat"/>
                  <a:ea typeface="Montserrat"/>
                  <a:cs typeface="Montserrat"/>
                  <a:sym typeface="Montserrat"/>
                </a:rPr>
                <a:t>Bảo mật dữ liệu cá nhân học sinh</a:t>
              </a:r>
            </a:p>
          </p:txBody>
        </p:sp>
      </p:grpSp>
      <p:grpSp>
        <p:nvGrpSpPr>
          <p:cNvPr name="Group 14" id="14"/>
          <p:cNvGrpSpPr/>
          <p:nvPr/>
        </p:nvGrpSpPr>
        <p:grpSpPr>
          <a:xfrm rot="0">
            <a:off x="9620250" y="4381500"/>
            <a:ext cx="6953250" cy="1666875"/>
            <a:chOff x="0" y="0"/>
            <a:chExt cx="9271000" cy="2222500"/>
          </a:xfrm>
        </p:grpSpPr>
        <p:grpSp>
          <p:nvGrpSpPr>
            <p:cNvPr name="Group 15" id="15"/>
            <p:cNvGrpSpPr/>
            <p:nvPr/>
          </p:nvGrpSpPr>
          <p:grpSpPr>
            <a:xfrm rot="0">
              <a:off x="0" y="0"/>
              <a:ext cx="9271000" cy="2222500"/>
              <a:chOff x="0" y="0"/>
              <a:chExt cx="9271000" cy="2222500"/>
            </a:xfrm>
          </p:grpSpPr>
          <p:sp>
            <p:nvSpPr>
              <p:cNvPr name="Freeform 16" id="16"/>
              <p:cNvSpPr/>
              <p:nvPr/>
            </p:nvSpPr>
            <p:spPr>
              <a:xfrm flipH="false" flipV="false" rot="0">
                <a:off x="0" y="0"/>
                <a:ext cx="9271000" cy="2222500"/>
              </a:xfrm>
              <a:custGeom>
                <a:avLst/>
                <a:gdLst/>
                <a:ahLst/>
                <a:cxnLst/>
                <a:rect r="r" b="b" t="t" l="l"/>
                <a:pathLst>
                  <a:path h="2222500" w="9271000">
                    <a:moveTo>
                      <a:pt x="0" y="0"/>
                    </a:moveTo>
                    <a:lnTo>
                      <a:pt x="9271000" y="0"/>
                    </a:lnTo>
                    <a:lnTo>
                      <a:pt x="9271000" y="2222500"/>
                    </a:lnTo>
                    <a:lnTo>
                      <a:pt x="0" y="2222500"/>
                    </a:lnTo>
                    <a:close/>
                  </a:path>
                </a:pathLst>
              </a:custGeom>
              <a:solidFill>
                <a:srgbClr val="192941"/>
              </a:solidFill>
              <a:ln cap="sq">
                <a:noFill/>
                <a:prstDash val="solid"/>
                <a:miter/>
              </a:ln>
            </p:spPr>
          </p:sp>
          <p:sp>
            <p:nvSpPr>
              <p:cNvPr name="TextBox 17" id="17"/>
              <p:cNvSpPr txBox="true"/>
              <p:nvPr/>
            </p:nvSpPr>
            <p:spPr>
              <a:xfrm>
                <a:off x="0" y="-38100"/>
                <a:ext cx="9271000" cy="22606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406400" y="333375"/>
              <a:ext cx="8458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02</a:t>
              </a:r>
            </a:p>
          </p:txBody>
        </p:sp>
        <p:sp>
          <p:nvSpPr>
            <p:cNvPr name="TextBox 19" id="19"/>
            <p:cNvSpPr txBox="true"/>
            <p:nvPr/>
          </p:nvSpPr>
          <p:spPr>
            <a:xfrm rot="0">
              <a:off x="406400" y="1012825"/>
              <a:ext cx="8458200" cy="445135"/>
            </a:xfrm>
            <a:prstGeom prst="rect">
              <a:avLst/>
            </a:prstGeom>
          </p:spPr>
          <p:txBody>
            <a:bodyPr anchor="t" rtlCol="false" tIns="0" lIns="0" bIns="0" rIns="0">
              <a:spAutoFit/>
            </a:bodyPr>
            <a:lstStyle/>
            <a:p>
              <a:pPr algn="l">
                <a:lnSpc>
                  <a:spcPts val="2835"/>
                </a:lnSpc>
              </a:pPr>
              <a:r>
                <a:rPr lang="en-US" sz="2100">
                  <a:solidFill>
                    <a:srgbClr val="FFFFFF"/>
                  </a:solidFill>
                  <a:latin typeface="Montserrat"/>
                  <a:ea typeface="Montserrat"/>
                  <a:cs typeface="Montserrat"/>
                  <a:sym typeface="Montserrat"/>
                </a:rPr>
                <a:t>Phụ thuộc quá mức vào công nghệ</a:t>
              </a:r>
            </a:p>
          </p:txBody>
        </p:sp>
      </p:grpSp>
      <p:grpSp>
        <p:nvGrpSpPr>
          <p:cNvPr name="Group 20" id="20"/>
          <p:cNvGrpSpPr/>
          <p:nvPr/>
        </p:nvGrpSpPr>
        <p:grpSpPr>
          <a:xfrm rot="0">
            <a:off x="9620250" y="6477000"/>
            <a:ext cx="6953250" cy="1666875"/>
            <a:chOff x="0" y="0"/>
            <a:chExt cx="9271000" cy="2222500"/>
          </a:xfrm>
        </p:grpSpPr>
        <p:grpSp>
          <p:nvGrpSpPr>
            <p:cNvPr name="Group 21" id="21"/>
            <p:cNvGrpSpPr/>
            <p:nvPr/>
          </p:nvGrpSpPr>
          <p:grpSpPr>
            <a:xfrm rot="0">
              <a:off x="0" y="0"/>
              <a:ext cx="9271000" cy="2222500"/>
              <a:chOff x="0" y="0"/>
              <a:chExt cx="9271000" cy="2222500"/>
            </a:xfrm>
          </p:grpSpPr>
          <p:sp>
            <p:nvSpPr>
              <p:cNvPr name="Freeform 22" id="22"/>
              <p:cNvSpPr/>
              <p:nvPr/>
            </p:nvSpPr>
            <p:spPr>
              <a:xfrm flipH="false" flipV="false" rot="0">
                <a:off x="0" y="0"/>
                <a:ext cx="9271000" cy="2222500"/>
              </a:xfrm>
              <a:custGeom>
                <a:avLst/>
                <a:gdLst/>
                <a:ahLst/>
                <a:cxnLst/>
                <a:rect r="r" b="b" t="t" l="l"/>
                <a:pathLst>
                  <a:path h="2222500" w="9271000">
                    <a:moveTo>
                      <a:pt x="0" y="0"/>
                    </a:moveTo>
                    <a:lnTo>
                      <a:pt x="9271000" y="0"/>
                    </a:lnTo>
                    <a:lnTo>
                      <a:pt x="9271000" y="2222500"/>
                    </a:lnTo>
                    <a:lnTo>
                      <a:pt x="0" y="2222500"/>
                    </a:lnTo>
                    <a:close/>
                  </a:path>
                </a:pathLst>
              </a:custGeom>
              <a:solidFill>
                <a:srgbClr val="192941"/>
              </a:solidFill>
              <a:ln cap="sq">
                <a:noFill/>
                <a:prstDash val="solid"/>
                <a:miter/>
              </a:ln>
            </p:spPr>
          </p:sp>
          <p:sp>
            <p:nvSpPr>
              <p:cNvPr name="TextBox 23" id="23"/>
              <p:cNvSpPr txBox="true"/>
              <p:nvPr/>
            </p:nvSpPr>
            <p:spPr>
              <a:xfrm>
                <a:off x="0" y="-38100"/>
                <a:ext cx="9271000" cy="22606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406400" y="333375"/>
              <a:ext cx="84582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03</a:t>
              </a:r>
            </a:p>
          </p:txBody>
        </p:sp>
        <p:sp>
          <p:nvSpPr>
            <p:cNvPr name="TextBox 25" id="25"/>
            <p:cNvSpPr txBox="true"/>
            <p:nvPr/>
          </p:nvSpPr>
          <p:spPr>
            <a:xfrm rot="0">
              <a:off x="406400" y="1012825"/>
              <a:ext cx="8458200" cy="445135"/>
            </a:xfrm>
            <a:prstGeom prst="rect">
              <a:avLst/>
            </a:prstGeom>
          </p:spPr>
          <p:txBody>
            <a:bodyPr anchor="t" rtlCol="false" tIns="0" lIns="0" bIns="0" rIns="0">
              <a:spAutoFit/>
            </a:bodyPr>
            <a:lstStyle/>
            <a:p>
              <a:pPr algn="l">
                <a:lnSpc>
                  <a:spcPts val="2835"/>
                </a:lnSpc>
              </a:pPr>
              <a:r>
                <a:rPr lang="en-US" sz="2100">
                  <a:solidFill>
                    <a:srgbClr val="FFFFFF"/>
                  </a:solidFill>
                  <a:latin typeface="Montserrat"/>
                  <a:ea typeface="Montserrat"/>
                  <a:cs typeface="Montserrat"/>
                  <a:sym typeface="Montserrat"/>
                </a:rPr>
                <a:t>Đạo đức và định kiến thuật toán</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3EFE6"/>
        </a:solidFill>
      </p:bgPr>
    </p:bg>
    <p:spTree>
      <p:nvGrpSpPr>
        <p:cNvPr id="1" name=""/>
        <p:cNvGrpSpPr/>
        <p:nvPr/>
      </p:nvGrpSpPr>
      <p:grpSpPr>
        <a:xfrm>
          <a:off x="0" y="0"/>
          <a:ext cx="0" cy="0"/>
          <a:chOff x="0" y="0"/>
          <a:chExt cx="0" cy="0"/>
        </a:xfrm>
      </p:grpSpPr>
      <p:sp>
        <p:nvSpPr>
          <p:cNvPr name="TextBox 2" id="2"/>
          <p:cNvSpPr txBox="true"/>
          <p:nvPr/>
        </p:nvSpPr>
        <p:spPr>
          <a:xfrm rot="0">
            <a:off x="952500" y="800100"/>
            <a:ext cx="16383000" cy="630174"/>
          </a:xfrm>
          <a:prstGeom prst="rect">
            <a:avLst/>
          </a:prstGeom>
        </p:spPr>
        <p:txBody>
          <a:bodyPr anchor="t" rtlCol="false" tIns="0" lIns="0" bIns="0" rIns="0">
            <a:spAutoFit/>
          </a:bodyPr>
          <a:lstStyle/>
          <a:p>
            <a:pPr algn="l">
              <a:lnSpc>
                <a:spcPts val="4743"/>
              </a:lnSpc>
            </a:pPr>
            <a:r>
              <a:rPr lang="en-US" sz="4650" b="true">
                <a:solidFill>
                  <a:srgbClr val="172235"/>
                </a:solidFill>
                <a:latin typeface="Cormorant Garamond Bold"/>
                <a:ea typeface="Cormorant Garamond Bold"/>
                <a:cs typeface="Cormorant Garamond Bold"/>
                <a:sym typeface="Cormorant Garamond Bold"/>
              </a:rPr>
              <a:t>Lộ trình đến hệ sinh thái giáo dục thông minh</a:t>
            </a:r>
          </a:p>
        </p:txBody>
      </p:sp>
      <p:sp>
        <p:nvSpPr>
          <p:cNvPr name="AutoShape 3" id="3"/>
          <p:cNvSpPr/>
          <p:nvPr/>
        </p:nvSpPr>
        <p:spPr>
          <a:xfrm>
            <a:off x="1714500" y="5429250"/>
            <a:ext cx="14859000" cy="0"/>
          </a:xfrm>
          <a:prstGeom prst="line">
            <a:avLst/>
          </a:prstGeom>
          <a:ln cap="flat" w="38100">
            <a:solidFill>
              <a:srgbClr val="B79352"/>
            </a:solidFill>
            <a:prstDash val="solid"/>
            <a:headEnd type="none" len="sm" w="sm"/>
            <a:tailEnd type="none" len="sm" w="sm"/>
          </a:ln>
        </p:spPr>
      </p:sp>
      <p:grpSp>
        <p:nvGrpSpPr>
          <p:cNvPr name="Group 4" id="4"/>
          <p:cNvGrpSpPr/>
          <p:nvPr/>
        </p:nvGrpSpPr>
        <p:grpSpPr>
          <a:xfrm rot="0">
            <a:off x="2000250" y="5010150"/>
            <a:ext cx="838200" cy="838200"/>
            <a:chOff x="0" y="0"/>
            <a:chExt cx="1117600" cy="1117600"/>
          </a:xfrm>
        </p:grpSpPr>
        <p:sp>
          <p:nvSpPr>
            <p:cNvPr name="Freeform 5" id="5"/>
            <p:cNvSpPr/>
            <p:nvPr/>
          </p:nvSpPr>
          <p:spPr>
            <a:xfrm flipH="false" flipV="false" rot="0">
              <a:off x="0" y="0"/>
              <a:ext cx="1117600" cy="1117600"/>
            </a:xfrm>
            <a:custGeom>
              <a:avLst/>
              <a:gdLst/>
              <a:ahLst/>
              <a:cxnLst/>
              <a:rect r="r" b="b" t="t" l="l"/>
              <a:pathLst>
                <a:path h="1117600" w="1117600">
                  <a:moveTo>
                    <a:pt x="558800" y="0"/>
                  </a:moveTo>
                  <a:cubicBezTo>
                    <a:pt x="867417" y="0"/>
                    <a:pt x="1117600" y="250183"/>
                    <a:pt x="1117600" y="558800"/>
                  </a:cubicBezTo>
                  <a:cubicBezTo>
                    <a:pt x="1117600" y="867417"/>
                    <a:pt x="867417" y="1117600"/>
                    <a:pt x="558800" y="1117600"/>
                  </a:cubicBezTo>
                  <a:cubicBezTo>
                    <a:pt x="250183" y="1117600"/>
                    <a:pt x="0" y="867417"/>
                    <a:pt x="0" y="558800"/>
                  </a:cubicBezTo>
                  <a:cubicBezTo>
                    <a:pt x="0" y="250183"/>
                    <a:pt x="250183" y="0"/>
                    <a:pt x="558800" y="0"/>
                  </a:cubicBezTo>
                  <a:close/>
                </a:path>
              </a:pathLst>
            </a:custGeom>
            <a:solidFill>
              <a:srgbClr val="101B2D"/>
            </a:solidFill>
            <a:ln cap="sq">
              <a:noFill/>
              <a:prstDash val="solid"/>
              <a:miter/>
            </a:ln>
          </p:spPr>
        </p:sp>
        <p:sp>
          <p:nvSpPr>
            <p:cNvPr name="TextBox 6" id="6"/>
            <p:cNvSpPr txBox="true"/>
            <p:nvPr/>
          </p:nvSpPr>
          <p:spPr>
            <a:xfrm>
              <a:off x="0" y="-38100"/>
              <a:ext cx="1117600" cy="1155700"/>
            </a:xfrm>
            <a:prstGeom prst="rect">
              <a:avLst/>
            </a:prstGeom>
          </p:spPr>
          <p:txBody>
            <a:bodyPr anchor="ctr" rtlCol="false" tIns="50800" lIns="50800" bIns="50800" rIns="50800"/>
            <a:lstStyle/>
            <a:p>
              <a:pPr algn="ctr">
                <a:lnSpc>
                  <a:spcPts val="2310"/>
                </a:lnSpc>
              </a:pPr>
              <a:r>
                <a:rPr lang="en-US" sz="1650" b="true">
                  <a:solidFill>
                    <a:srgbClr val="FFFFFF"/>
                  </a:solidFill>
                  <a:latin typeface="Montserrat Bold"/>
                  <a:ea typeface="Montserrat Bold"/>
                  <a:cs typeface="Montserrat Bold"/>
                  <a:sym typeface="Montserrat Bold"/>
                </a:rPr>
                <a:t>01</a:t>
              </a:r>
            </a:p>
          </p:txBody>
        </p:sp>
      </p:grpSp>
      <p:sp>
        <p:nvSpPr>
          <p:cNvPr name="TextBox 7" id="7"/>
          <p:cNvSpPr txBox="true"/>
          <p:nvPr/>
        </p:nvSpPr>
        <p:spPr>
          <a:xfrm rot="0">
            <a:off x="1714500" y="3105150"/>
            <a:ext cx="1428750" cy="414909"/>
          </a:xfrm>
          <a:prstGeom prst="rect">
            <a:avLst/>
          </a:prstGeom>
        </p:spPr>
        <p:txBody>
          <a:bodyPr anchor="t" rtlCol="false" tIns="0" lIns="0" bIns="0" rIns="0">
            <a:spAutoFit/>
          </a:bodyPr>
          <a:lstStyle/>
          <a:p>
            <a:pPr algn="l">
              <a:lnSpc>
                <a:spcPts val="3213"/>
              </a:lnSpc>
            </a:pPr>
            <a:r>
              <a:rPr lang="en-US" sz="3150" b="true">
                <a:solidFill>
                  <a:srgbClr val="B79352"/>
                </a:solidFill>
                <a:latin typeface="Cormorant Garamond Bold"/>
                <a:ea typeface="Cormorant Garamond Bold"/>
                <a:cs typeface="Cormorant Garamond Bold"/>
                <a:sym typeface="Cormorant Garamond Bold"/>
              </a:rPr>
              <a:t>2026</a:t>
            </a:r>
          </a:p>
        </p:txBody>
      </p:sp>
      <p:sp>
        <p:nvSpPr>
          <p:cNvPr name="TextBox 8" id="8"/>
          <p:cNvSpPr txBox="true"/>
          <p:nvPr/>
        </p:nvSpPr>
        <p:spPr>
          <a:xfrm rot="0">
            <a:off x="1333500" y="6543675"/>
            <a:ext cx="2476500" cy="675799"/>
          </a:xfrm>
          <a:prstGeom prst="rect">
            <a:avLst/>
          </a:prstGeom>
        </p:spPr>
        <p:txBody>
          <a:bodyPr anchor="t" rtlCol="false" tIns="0" lIns="0" bIns="0" rIns="0">
            <a:spAutoFit/>
          </a:bodyPr>
          <a:lstStyle/>
          <a:p>
            <a:pPr algn="ctr">
              <a:lnSpc>
                <a:spcPts val="2733"/>
              </a:lnSpc>
            </a:pPr>
            <a:r>
              <a:rPr lang="en-US" sz="2025">
                <a:solidFill>
                  <a:srgbClr val="172235"/>
                </a:solidFill>
                <a:latin typeface="Montserrat"/>
                <a:ea typeface="Montserrat"/>
                <a:cs typeface="Montserrat"/>
                <a:sym typeface="Montserrat"/>
              </a:rPr>
              <a:t>Cá nhân hóa</a:t>
            </a:r>
          </a:p>
          <a:p>
            <a:pPr algn="ctr">
              <a:lnSpc>
                <a:spcPts val="2733"/>
              </a:lnSpc>
            </a:pPr>
            <a:r>
              <a:rPr lang="en-US" sz="2025">
                <a:solidFill>
                  <a:srgbClr val="172235"/>
                </a:solidFill>
                <a:latin typeface="Montserrat"/>
                <a:ea typeface="Montserrat"/>
                <a:cs typeface="Montserrat"/>
                <a:sym typeface="Montserrat"/>
              </a:rPr>
              <a:t>học tập</a:t>
            </a:r>
          </a:p>
        </p:txBody>
      </p:sp>
      <p:grpSp>
        <p:nvGrpSpPr>
          <p:cNvPr name="Group 9" id="9"/>
          <p:cNvGrpSpPr/>
          <p:nvPr/>
        </p:nvGrpSpPr>
        <p:grpSpPr>
          <a:xfrm rot="0">
            <a:off x="6667500" y="5010150"/>
            <a:ext cx="838200" cy="838200"/>
            <a:chOff x="0" y="0"/>
            <a:chExt cx="1117600" cy="1117600"/>
          </a:xfrm>
        </p:grpSpPr>
        <p:sp>
          <p:nvSpPr>
            <p:cNvPr name="Freeform 10" id="10"/>
            <p:cNvSpPr/>
            <p:nvPr/>
          </p:nvSpPr>
          <p:spPr>
            <a:xfrm flipH="false" flipV="false" rot="0">
              <a:off x="0" y="0"/>
              <a:ext cx="1117600" cy="1117600"/>
            </a:xfrm>
            <a:custGeom>
              <a:avLst/>
              <a:gdLst/>
              <a:ahLst/>
              <a:cxnLst/>
              <a:rect r="r" b="b" t="t" l="l"/>
              <a:pathLst>
                <a:path h="1117600" w="1117600">
                  <a:moveTo>
                    <a:pt x="558800" y="0"/>
                  </a:moveTo>
                  <a:cubicBezTo>
                    <a:pt x="867417" y="0"/>
                    <a:pt x="1117600" y="250183"/>
                    <a:pt x="1117600" y="558800"/>
                  </a:cubicBezTo>
                  <a:cubicBezTo>
                    <a:pt x="1117600" y="867417"/>
                    <a:pt x="867417" y="1117600"/>
                    <a:pt x="558800" y="1117600"/>
                  </a:cubicBezTo>
                  <a:cubicBezTo>
                    <a:pt x="250183" y="1117600"/>
                    <a:pt x="0" y="867417"/>
                    <a:pt x="0" y="558800"/>
                  </a:cubicBezTo>
                  <a:cubicBezTo>
                    <a:pt x="0" y="250183"/>
                    <a:pt x="250183" y="0"/>
                    <a:pt x="558800" y="0"/>
                  </a:cubicBezTo>
                  <a:close/>
                </a:path>
              </a:pathLst>
            </a:custGeom>
            <a:solidFill>
              <a:srgbClr val="101B2D"/>
            </a:solidFill>
            <a:ln cap="sq">
              <a:noFill/>
              <a:prstDash val="solid"/>
              <a:miter/>
            </a:ln>
          </p:spPr>
        </p:sp>
        <p:sp>
          <p:nvSpPr>
            <p:cNvPr name="TextBox 11" id="11"/>
            <p:cNvSpPr txBox="true"/>
            <p:nvPr/>
          </p:nvSpPr>
          <p:spPr>
            <a:xfrm>
              <a:off x="0" y="-38100"/>
              <a:ext cx="1117600" cy="1155700"/>
            </a:xfrm>
            <a:prstGeom prst="rect">
              <a:avLst/>
            </a:prstGeom>
          </p:spPr>
          <p:txBody>
            <a:bodyPr anchor="ctr" rtlCol="false" tIns="50800" lIns="50800" bIns="50800" rIns="50800"/>
            <a:lstStyle/>
            <a:p>
              <a:pPr algn="ctr">
                <a:lnSpc>
                  <a:spcPts val="2310"/>
                </a:lnSpc>
              </a:pPr>
              <a:r>
                <a:rPr lang="en-US" sz="1650" b="true">
                  <a:solidFill>
                    <a:srgbClr val="FFFFFF"/>
                  </a:solidFill>
                  <a:latin typeface="Montserrat Bold"/>
                  <a:ea typeface="Montserrat Bold"/>
                  <a:cs typeface="Montserrat Bold"/>
                  <a:sym typeface="Montserrat Bold"/>
                </a:rPr>
                <a:t>02</a:t>
              </a:r>
            </a:p>
          </p:txBody>
        </p:sp>
      </p:grpSp>
      <p:sp>
        <p:nvSpPr>
          <p:cNvPr name="TextBox 12" id="12"/>
          <p:cNvSpPr txBox="true"/>
          <p:nvPr/>
        </p:nvSpPr>
        <p:spPr>
          <a:xfrm rot="0">
            <a:off x="6381750" y="3105150"/>
            <a:ext cx="1428750" cy="414909"/>
          </a:xfrm>
          <a:prstGeom prst="rect">
            <a:avLst/>
          </a:prstGeom>
        </p:spPr>
        <p:txBody>
          <a:bodyPr anchor="t" rtlCol="false" tIns="0" lIns="0" bIns="0" rIns="0">
            <a:spAutoFit/>
          </a:bodyPr>
          <a:lstStyle/>
          <a:p>
            <a:pPr algn="l">
              <a:lnSpc>
                <a:spcPts val="3213"/>
              </a:lnSpc>
            </a:pPr>
            <a:r>
              <a:rPr lang="en-US" sz="3150" b="true">
                <a:solidFill>
                  <a:srgbClr val="B79352"/>
                </a:solidFill>
                <a:latin typeface="Cormorant Garamond Bold"/>
                <a:ea typeface="Cormorant Garamond Bold"/>
                <a:cs typeface="Cormorant Garamond Bold"/>
                <a:sym typeface="Cormorant Garamond Bold"/>
              </a:rPr>
              <a:t>2028</a:t>
            </a:r>
          </a:p>
        </p:txBody>
      </p:sp>
      <p:sp>
        <p:nvSpPr>
          <p:cNvPr name="TextBox 13" id="13"/>
          <p:cNvSpPr txBox="true"/>
          <p:nvPr/>
        </p:nvSpPr>
        <p:spPr>
          <a:xfrm rot="0">
            <a:off x="6000750" y="6543675"/>
            <a:ext cx="2476500" cy="675799"/>
          </a:xfrm>
          <a:prstGeom prst="rect">
            <a:avLst/>
          </a:prstGeom>
        </p:spPr>
        <p:txBody>
          <a:bodyPr anchor="t" rtlCol="false" tIns="0" lIns="0" bIns="0" rIns="0">
            <a:spAutoFit/>
          </a:bodyPr>
          <a:lstStyle/>
          <a:p>
            <a:pPr algn="ctr">
              <a:lnSpc>
                <a:spcPts val="2733"/>
              </a:lnSpc>
            </a:pPr>
            <a:r>
              <a:rPr lang="en-US" sz="2025">
                <a:solidFill>
                  <a:srgbClr val="172235"/>
                </a:solidFill>
                <a:latin typeface="Montserrat"/>
                <a:ea typeface="Montserrat"/>
                <a:cs typeface="Montserrat"/>
                <a:sym typeface="Montserrat"/>
              </a:rPr>
              <a:t>Kỹ năng mềm</a:t>
            </a:r>
          </a:p>
          <a:p>
            <a:pPr algn="ctr">
              <a:lnSpc>
                <a:spcPts val="2733"/>
              </a:lnSpc>
            </a:pPr>
            <a:r>
              <a:rPr lang="en-US" sz="2025">
                <a:solidFill>
                  <a:srgbClr val="172235"/>
                </a:solidFill>
                <a:latin typeface="Montserrat"/>
                <a:ea typeface="Montserrat"/>
                <a:cs typeface="Montserrat"/>
                <a:sym typeface="Montserrat"/>
              </a:rPr>
              <a:t>&amp; sáng tạo</a:t>
            </a:r>
          </a:p>
        </p:txBody>
      </p:sp>
      <p:grpSp>
        <p:nvGrpSpPr>
          <p:cNvPr name="Group 14" id="14"/>
          <p:cNvGrpSpPr/>
          <p:nvPr/>
        </p:nvGrpSpPr>
        <p:grpSpPr>
          <a:xfrm rot="0">
            <a:off x="11334750" y="5010150"/>
            <a:ext cx="838200" cy="838200"/>
            <a:chOff x="0" y="0"/>
            <a:chExt cx="1117600" cy="1117600"/>
          </a:xfrm>
        </p:grpSpPr>
        <p:sp>
          <p:nvSpPr>
            <p:cNvPr name="Freeform 15" id="15"/>
            <p:cNvSpPr/>
            <p:nvPr/>
          </p:nvSpPr>
          <p:spPr>
            <a:xfrm flipH="false" flipV="false" rot="0">
              <a:off x="0" y="0"/>
              <a:ext cx="1117600" cy="1117600"/>
            </a:xfrm>
            <a:custGeom>
              <a:avLst/>
              <a:gdLst/>
              <a:ahLst/>
              <a:cxnLst/>
              <a:rect r="r" b="b" t="t" l="l"/>
              <a:pathLst>
                <a:path h="1117600" w="1117600">
                  <a:moveTo>
                    <a:pt x="558800" y="0"/>
                  </a:moveTo>
                  <a:cubicBezTo>
                    <a:pt x="867417" y="0"/>
                    <a:pt x="1117600" y="250183"/>
                    <a:pt x="1117600" y="558800"/>
                  </a:cubicBezTo>
                  <a:cubicBezTo>
                    <a:pt x="1117600" y="867417"/>
                    <a:pt x="867417" y="1117600"/>
                    <a:pt x="558800" y="1117600"/>
                  </a:cubicBezTo>
                  <a:cubicBezTo>
                    <a:pt x="250183" y="1117600"/>
                    <a:pt x="0" y="867417"/>
                    <a:pt x="0" y="558800"/>
                  </a:cubicBezTo>
                  <a:cubicBezTo>
                    <a:pt x="0" y="250183"/>
                    <a:pt x="250183" y="0"/>
                    <a:pt x="558800" y="0"/>
                  </a:cubicBezTo>
                  <a:close/>
                </a:path>
              </a:pathLst>
            </a:custGeom>
            <a:solidFill>
              <a:srgbClr val="101B2D"/>
            </a:solidFill>
            <a:ln cap="sq">
              <a:noFill/>
              <a:prstDash val="solid"/>
              <a:miter/>
            </a:ln>
          </p:spPr>
        </p:sp>
        <p:sp>
          <p:nvSpPr>
            <p:cNvPr name="TextBox 16" id="16"/>
            <p:cNvSpPr txBox="true"/>
            <p:nvPr/>
          </p:nvSpPr>
          <p:spPr>
            <a:xfrm>
              <a:off x="0" y="-38100"/>
              <a:ext cx="1117600" cy="1155700"/>
            </a:xfrm>
            <a:prstGeom prst="rect">
              <a:avLst/>
            </a:prstGeom>
          </p:spPr>
          <p:txBody>
            <a:bodyPr anchor="ctr" rtlCol="false" tIns="50800" lIns="50800" bIns="50800" rIns="50800"/>
            <a:lstStyle/>
            <a:p>
              <a:pPr algn="ctr">
                <a:lnSpc>
                  <a:spcPts val="2310"/>
                </a:lnSpc>
              </a:pPr>
              <a:r>
                <a:rPr lang="en-US" sz="1650" b="true">
                  <a:solidFill>
                    <a:srgbClr val="FFFFFF"/>
                  </a:solidFill>
                  <a:latin typeface="Montserrat Bold"/>
                  <a:ea typeface="Montserrat Bold"/>
                  <a:cs typeface="Montserrat Bold"/>
                  <a:sym typeface="Montserrat Bold"/>
                </a:rPr>
                <a:t>03</a:t>
              </a:r>
            </a:p>
          </p:txBody>
        </p:sp>
      </p:grpSp>
      <p:sp>
        <p:nvSpPr>
          <p:cNvPr name="TextBox 17" id="17"/>
          <p:cNvSpPr txBox="true"/>
          <p:nvPr/>
        </p:nvSpPr>
        <p:spPr>
          <a:xfrm rot="0">
            <a:off x="11049000" y="3105150"/>
            <a:ext cx="1428750" cy="414909"/>
          </a:xfrm>
          <a:prstGeom prst="rect">
            <a:avLst/>
          </a:prstGeom>
        </p:spPr>
        <p:txBody>
          <a:bodyPr anchor="t" rtlCol="false" tIns="0" lIns="0" bIns="0" rIns="0">
            <a:spAutoFit/>
          </a:bodyPr>
          <a:lstStyle/>
          <a:p>
            <a:pPr algn="l">
              <a:lnSpc>
                <a:spcPts val="3213"/>
              </a:lnSpc>
            </a:pPr>
            <a:r>
              <a:rPr lang="en-US" sz="3150" b="true">
                <a:solidFill>
                  <a:srgbClr val="B79352"/>
                </a:solidFill>
                <a:latin typeface="Cormorant Garamond Bold"/>
                <a:ea typeface="Cormorant Garamond Bold"/>
                <a:cs typeface="Cormorant Garamond Bold"/>
                <a:sym typeface="Cormorant Garamond Bold"/>
              </a:rPr>
              <a:t>2030</a:t>
            </a:r>
          </a:p>
        </p:txBody>
      </p:sp>
      <p:sp>
        <p:nvSpPr>
          <p:cNvPr name="TextBox 18" id="18"/>
          <p:cNvSpPr txBox="true"/>
          <p:nvPr/>
        </p:nvSpPr>
        <p:spPr>
          <a:xfrm rot="0">
            <a:off x="10668000" y="6543675"/>
            <a:ext cx="2476500" cy="675799"/>
          </a:xfrm>
          <a:prstGeom prst="rect">
            <a:avLst/>
          </a:prstGeom>
        </p:spPr>
        <p:txBody>
          <a:bodyPr anchor="t" rtlCol="false" tIns="0" lIns="0" bIns="0" rIns="0">
            <a:spAutoFit/>
          </a:bodyPr>
          <a:lstStyle/>
          <a:p>
            <a:pPr algn="ctr">
              <a:lnSpc>
                <a:spcPts val="2733"/>
              </a:lnSpc>
            </a:pPr>
            <a:r>
              <a:rPr lang="en-US" sz="2025">
                <a:solidFill>
                  <a:srgbClr val="172235"/>
                </a:solidFill>
                <a:latin typeface="Montserrat"/>
                <a:ea typeface="Montserrat"/>
                <a:cs typeface="Montserrat"/>
                <a:sym typeface="Montserrat"/>
              </a:rPr>
              <a:t>Quản lý giáo dục</a:t>
            </a:r>
          </a:p>
          <a:p>
            <a:pPr algn="ctr">
              <a:lnSpc>
                <a:spcPts val="2733"/>
              </a:lnSpc>
            </a:pPr>
            <a:r>
              <a:rPr lang="en-US" sz="2025">
                <a:solidFill>
                  <a:srgbClr val="172235"/>
                </a:solidFill>
                <a:latin typeface="Montserrat"/>
                <a:ea typeface="Montserrat"/>
                <a:cs typeface="Montserrat"/>
                <a:sym typeface="Montserrat"/>
              </a:rPr>
              <a:t>toàn diện</a:t>
            </a:r>
          </a:p>
        </p:txBody>
      </p:sp>
      <p:grpSp>
        <p:nvGrpSpPr>
          <p:cNvPr name="Group 19" id="19"/>
          <p:cNvGrpSpPr/>
          <p:nvPr/>
        </p:nvGrpSpPr>
        <p:grpSpPr>
          <a:xfrm rot="0">
            <a:off x="16002000" y="5010150"/>
            <a:ext cx="838200" cy="838200"/>
            <a:chOff x="0" y="0"/>
            <a:chExt cx="1117600" cy="1117600"/>
          </a:xfrm>
        </p:grpSpPr>
        <p:sp>
          <p:nvSpPr>
            <p:cNvPr name="Freeform 20" id="20"/>
            <p:cNvSpPr/>
            <p:nvPr/>
          </p:nvSpPr>
          <p:spPr>
            <a:xfrm flipH="false" flipV="false" rot="0">
              <a:off x="0" y="0"/>
              <a:ext cx="1117600" cy="1117600"/>
            </a:xfrm>
            <a:custGeom>
              <a:avLst/>
              <a:gdLst/>
              <a:ahLst/>
              <a:cxnLst/>
              <a:rect r="r" b="b" t="t" l="l"/>
              <a:pathLst>
                <a:path h="1117600" w="1117600">
                  <a:moveTo>
                    <a:pt x="558800" y="0"/>
                  </a:moveTo>
                  <a:cubicBezTo>
                    <a:pt x="867417" y="0"/>
                    <a:pt x="1117600" y="250183"/>
                    <a:pt x="1117600" y="558800"/>
                  </a:cubicBezTo>
                  <a:cubicBezTo>
                    <a:pt x="1117600" y="867417"/>
                    <a:pt x="867417" y="1117600"/>
                    <a:pt x="558800" y="1117600"/>
                  </a:cubicBezTo>
                  <a:cubicBezTo>
                    <a:pt x="250183" y="1117600"/>
                    <a:pt x="0" y="867417"/>
                    <a:pt x="0" y="558800"/>
                  </a:cubicBezTo>
                  <a:cubicBezTo>
                    <a:pt x="0" y="250183"/>
                    <a:pt x="250183" y="0"/>
                    <a:pt x="558800" y="0"/>
                  </a:cubicBezTo>
                  <a:close/>
                </a:path>
              </a:pathLst>
            </a:custGeom>
            <a:solidFill>
              <a:srgbClr val="43B8C9"/>
            </a:solidFill>
            <a:ln cap="sq">
              <a:noFill/>
              <a:prstDash val="solid"/>
              <a:miter/>
            </a:ln>
          </p:spPr>
        </p:sp>
        <p:sp>
          <p:nvSpPr>
            <p:cNvPr name="TextBox 21" id="21"/>
            <p:cNvSpPr txBox="true"/>
            <p:nvPr/>
          </p:nvSpPr>
          <p:spPr>
            <a:xfrm>
              <a:off x="0" y="-38100"/>
              <a:ext cx="1117600" cy="1155700"/>
            </a:xfrm>
            <a:prstGeom prst="rect">
              <a:avLst/>
            </a:prstGeom>
          </p:spPr>
          <p:txBody>
            <a:bodyPr anchor="ctr" rtlCol="false" tIns="50800" lIns="50800" bIns="50800" rIns="50800"/>
            <a:lstStyle/>
            <a:p>
              <a:pPr algn="ctr">
                <a:lnSpc>
                  <a:spcPts val="2310"/>
                </a:lnSpc>
              </a:pPr>
              <a:r>
                <a:rPr lang="en-US" sz="1650" b="true">
                  <a:solidFill>
                    <a:srgbClr val="FFFFFF"/>
                  </a:solidFill>
                  <a:latin typeface="Montserrat Bold"/>
                  <a:ea typeface="Montserrat Bold"/>
                  <a:cs typeface="Montserrat Bold"/>
                  <a:sym typeface="Montserrat Bold"/>
                </a:rPr>
                <a:t>04</a:t>
              </a:r>
            </a:p>
          </p:txBody>
        </p:sp>
      </p:grpSp>
      <p:sp>
        <p:nvSpPr>
          <p:cNvPr name="TextBox 22" id="22"/>
          <p:cNvSpPr txBox="true"/>
          <p:nvPr/>
        </p:nvSpPr>
        <p:spPr>
          <a:xfrm rot="0">
            <a:off x="15716250" y="3105150"/>
            <a:ext cx="1428750" cy="414909"/>
          </a:xfrm>
          <a:prstGeom prst="rect">
            <a:avLst/>
          </a:prstGeom>
        </p:spPr>
        <p:txBody>
          <a:bodyPr anchor="t" rtlCol="false" tIns="0" lIns="0" bIns="0" rIns="0">
            <a:spAutoFit/>
          </a:bodyPr>
          <a:lstStyle/>
          <a:p>
            <a:pPr algn="l">
              <a:lnSpc>
                <a:spcPts val="3213"/>
              </a:lnSpc>
            </a:pPr>
            <a:r>
              <a:rPr lang="en-US" sz="3150" b="true">
                <a:solidFill>
                  <a:srgbClr val="B79352"/>
                </a:solidFill>
                <a:latin typeface="Cormorant Garamond Bold"/>
                <a:ea typeface="Cormorant Garamond Bold"/>
                <a:cs typeface="Cormorant Garamond Bold"/>
                <a:sym typeface="Cormorant Garamond Bold"/>
              </a:rPr>
              <a:t>2032</a:t>
            </a:r>
          </a:p>
        </p:txBody>
      </p:sp>
      <p:sp>
        <p:nvSpPr>
          <p:cNvPr name="TextBox 23" id="23"/>
          <p:cNvSpPr txBox="true"/>
          <p:nvPr/>
        </p:nvSpPr>
        <p:spPr>
          <a:xfrm rot="0">
            <a:off x="15335250" y="6543675"/>
            <a:ext cx="2476500" cy="675799"/>
          </a:xfrm>
          <a:prstGeom prst="rect">
            <a:avLst/>
          </a:prstGeom>
        </p:spPr>
        <p:txBody>
          <a:bodyPr anchor="t" rtlCol="false" tIns="0" lIns="0" bIns="0" rIns="0">
            <a:spAutoFit/>
          </a:bodyPr>
          <a:lstStyle/>
          <a:p>
            <a:pPr algn="ctr">
              <a:lnSpc>
                <a:spcPts val="2733"/>
              </a:lnSpc>
            </a:pPr>
            <a:r>
              <a:rPr lang="en-US" sz="2025">
                <a:solidFill>
                  <a:srgbClr val="172235"/>
                </a:solidFill>
                <a:latin typeface="Montserrat"/>
                <a:ea typeface="Montserrat"/>
                <a:cs typeface="Montserrat"/>
                <a:sym typeface="Montserrat"/>
              </a:rPr>
              <a:t>Học tập</a:t>
            </a:r>
          </a:p>
          <a:p>
            <a:pPr algn="ctr">
              <a:lnSpc>
                <a:spcPts val="2733"/>
              </a:lnSpc>
            </a:pPr>
            <a:r>
              <a:rPr lang="en-US" sz="2025">
                <a:solidFill>
                  <a:srgbClr val="172235"/>
                </a:solidFill>
                <a:latin typeface="Montserrat"/>
                <a:ea typeface="Montserrat"/>
                <a:cs typeface="Montserrat"/>
                <a:sym typeface="Montserrat"/>
              </a:rPr>
              <a:t>đa giác quan</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3EFE6"/>
        </a:solidFill>
      </p:bgPr>
    </p:bg>
    <p:spTree>
      <p:nvGrpSpPr>
        <p:cNvPr id="1" name=""/>
        <p:cNvGrpSpPr/>
        <p:nvPr/>
      </p:nvGrpSpPr>
      <p:grpSpPr>
        <a:xfrm>
          <a:off x="0" y="0"/>
          <a:ext cx="0" cy="0"/>
          <a:chOff x="0" y="0"/>
          <a:chExt cx="0" cy="0"/>
        </a:xfrm>
      </p:grpSpPr>
      <p:sp>
        <p:nvSpPr>
          <p:cNvPr name="TextBox 2" id="2"/>
          <p:cNvSpPr txBox="true"/>
          <p:nvPr/>
        </p:nvSpPr>
        <p:spPr>
          <a:xfrm rot="0">
            <a:off x="952500" y="800100"/>
            <a:ext cx="16383000" cy="630174"/>
          </a:xfrm>
          <a:prstGeom prst="rect">
            <a:avLst/>
          </a:prstGeom>
        </p:spPr>
        <p:txBody>
          <a:bodyPr anchor="t" rtlCol="false" tIns="0" lIns="0" bIns="0" rIns="0">
            <a:spAutoFit/>
          </a:bodyPr>
          <a:lstStyle/>
          <a:p>
            <a:pPr algn="l">
              <a:lnSpc>
                <a:spcPts val="4743"/>
              </a:lnSpc>
            </a:pPr>
            <a:r>
              <a:rPr lang="en-US" sz="4650" b="true">
                <a:solidFill>
                  <a:srgbClr val="172235"/>
                </a:solidFill>
                <a:latin typeface="Cormorant Garamond Bold"/>
                <a:ea typeface="Cormorant Garamond Bold"/>
                <a:cs typeface="Cormorant Garamond Bold"/>
                <a:sym typeface="Cormorant Garamond Bold"/>
              </a:rPr>
              <a:t>Áp dụng có chủ đích, đo lường liên tục</a:t>
            </a:r>
          </a:p>
        </p:txBody>
      </p:sp>
      <p:grpSp>
        <p:nvGrpSpPr>
          <p:cNvPr name="Group 3" id="3"/>
          <p:cNvGrpSpPr/>
          <p:nvPr/>
        </p:nvGrpSpPr>
        <p:grpSpPr>
          <a:xfrm rot="0">
            <a:off x="952500" y="2952750"/>
            <a:ext cx="3857625" cy="4762500"/>
            <a:chOff x="0" y="0"/>
            <a:chExt cx="5143500" cy="6350000"/>
          </a:xfrm>
        </p:grpSpPr>
        <p:grpSp>
          <p:nvGrpSpPr>
            <p:cNvPr name="Group 4" id="4"/>
            <p:cNvGrpSpPr/>
            <p:nvPr/>
          </p:nvGrpSpPr>
          <p:grpSpPr>
            <a:xfrm rot="0">
              <a:off x="0" y="0"/>
              <a:ext cx="5143500" cy="6350000"/>
              <a:chOff x="0" y="0"/>
              <a:chExt cx="5143500" cy="6350000"/>
            </a:xfrm>
          </p:grpSpPr>
          <p:sp>
            <p:nvSpPr>
              <p:cNvPr name="Freeform 5" id="5"/>
              <p:cNvSpPr/>
              <p:nvPr/>
            </p:nvSpPr>
            <p:spPr>
              <a:xfrm flipH="false" flipV="false" rot="0">
                <a:off x="0" y="0"/>
                <a:ext cx="5143500" cy="6350000"/>
              </a:xfrm>
              <a:custGeom>
                <a:avLst/>
                <a:gdLst/>
                <a:ahLst/>
                <a:cxnLst/>
                <a:rect r="r" b="b" t="t" l="l"/>
                <a:pathLst>
                  <a:path h="6350000" w="5143500">
                    <a:moveTo>
                      <a:pt x="0" y="0"/>
                    </a:moveTo>
                    <a:lnTo>
                      <a:pt x="5143500" y="0"/>
                    </a:lnTo>
                    <a:lnTo>
                      <a:pt x="5143500" y="6350000"/>
                    </a:lnTo>
                    <a:lnTo>
                      <a:pt x="0" y="6350000"/>
                    </a:lnTo>
                    <a:close/>
                  </a:path>
                </a:pathLst>
              </a:custGeom>
              <a:solidFill>
                <a:srgbClr val="FFFFFF"/>
              </a:solidFill>
              <a:ln cap="sq">
                <a:noFill/>
                <a:prstDash val="solid"/>
                <a:miter/>
              </a:ln>
            </p:spPr>
          </p:sp>
          <p:sp>
            <p:nvSpPr>
              <p:cNvPr name="TextBox 6" id="6"/>
              <p:cNvSpPr txBox="true"/>
              <p:nvPr/>
            </p:nvSpPr>
            <p:spPr>
              <a:xfrm>
                <a:off x="0" y="-38100"/>
                <a:ext cx="5143500" cy="6388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406400" y="333375"/>
              <a:ext cx="43307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01  Nâng kỹ năng số</a:t>
              </a:r>
            </a:p>
          </p:txBody>
        </p:sp>
        <p:sp>
          <p:nvSpPr>
            <p:cNvPr name="TextBox 8" id="8"/>
            <p:cNvSpPr txBox="true"/>
            <p:nvPr/>
          </p:nvSpPr>
          <p:spPr>
            <a:xfrm rot="0">
              <a:off x="406400" y="1012825"/>
              <a:ext cx="4330700" cy="9150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Đào tạo thực hành cho giáo viên</a:t>
              </a:r>
            </a:p>
          </p:txBody>
        </p:sp>
      </p:grpSp>
      <p:sp>
        <p:nvSpPr>
          <p:cNvPr name="AutoShape 9" id="9"/>
          <p:cNvSpPr/>
          <p:nvPr/>
        </p:nvSpPr>
        <p:spPr>
          <a:xfrm>
            <a:off x="4810125" y="5334000"/>
            <a:ext cx="333375" cy="0"/>
          </a:xfrm>
          <a:prstGeom prst="line">
            <a:avLst/>
          </a:prstGeom>
          <a:ln cap="flat" w="28575">
            <a:solidFill>
              <a:srgbClr val="B79352"/>
            </a:solidFill>
            <a:prstDash val="solid"/>
            <a:headEnd type="none" len="sm" w="sm"/>
            <a:tailEnd type="arrow" len="sm" w="med"/>
          </a:ln>
        </p:spPr>
      </p:sp>
      <p:grpSp>
        <p:nvGrpSpPr>
          <p:cNvPr name="Group 10" id="10"/>
          <p:cNvGrpSpPr/>
          <p:nvPr/>
        </p:nvGrpSpPr>
        <p:grpSpPr>
          <a:xfrm rot="0">
            <a:off x="5191125" y="2952750"/>
            <a:ext cx="3857625" cy="4762500"/>
            <a:chOff x="0" y="0"/>
            <a:chExt cx="5143500" cy="6350000"/>
          </a:xfrm>
        </p:grpSpPr>
        <p:grpSp>
          <p:nvGrpSpPr>
            <p:cNvPr name="Group 11" id="11"/>
            <p:cNvGrpSpPr/>
            <p:nvPr/>
          </p:nvGrpSpPr>
          <p:grpSpPr>
            <a:xfrm rot="0">
              <a:off x="0" y="0"/>
              <a:ext cx="5143500" cy="6350000"/>
              <a:chOff x="0" y="0"/>
              <a:chExt cx="5143500" cy="6350000"/>
            </a:xfrm>
          </p:grpSpPr>
          <p:sp>
            <p:nvSpPr>
              <p:cNvPr name="Freeform 12" id="12"/>
              <p:cNvSpPr/>
              <p:nvPr/>
            </p:nvSpPr>
            <p:spPr>
              <a:xfrm flipH="false" flipV="false" rot="0">
                <a:off x="0" y="0"/>
                <a:ext cx="5143500" cy="6350000"/>
              </a:xfrm>
              <a:custGeom>
                <a:avLst/>
                <a:gdLst/>
                <a:ahLst/>
                <a:cxnLst/>
                <a:rect r="r" b="b" t="t" l="l"/>
                <a:pathLst>
                  <a:path h="6350000" w="5143500">
                    <a:moveTo>
                      <a:pt x="0" y="0"/>
                    </a:moveTo>
                    <a:lnTo>
                      <a:pt x="5143500" y="0"/>
                    </a:lnTo>
                    <a:lnTo>
                      <a:pt x="5143500" y="6350000"/>
                    </a:lnTo>
                    <a:lnTo>
                      <a:pt x="0" y="6350000"/>
                    </a:lnTo>
                    <a:close/>
                  </a:path>
                </a:pathLst>
              </a:custGeom>
              <a:solidFill>
                <a:srgbClr val="FFFFFF"/>
              </a:solidFill>
              <a:ln cap="sq">
                <a:noFill/>
                <a:prstDash val="solid"/>
                <a:miter/>
              </a:ln>
            </p:spPr>
          </p:sp>
          <p:sp>
            <p:nvSpPr>
              <p:cNvPr name="TextBox 13" id="13"/>
              <p:cNvSpPr txBox="true"/>
              <p:nvPr/>
            </p:nvSpPr>
            <p:spPr>
              <a:xfrm>
                <a:off x="0" y="-38100"/>
                <a:ext cx="5143500" cy="6388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406400" y="342900"/>
              <a:ext cx="4330700" cy="419100"/>
            </a:xfrm>
            <a:prstGeom prst="rect">
              <a:avLst/>
            </a:prstGeom>
          </p:spPr>
          <p:txBody>
            <a:bodyPr anchor="t" rtlCol="false" tIns="0" lIns="0" bIns="0" rIns="0">
              <a:spAutoFit/>
            </a:bodyPr>
            <a:lstStyle/>
            <a:p>
              <a:pPr algn="l">
                <a:lnSpc>
                  <a:spcPts val="2625"/>
                </a:lnSpc>
              </a:pPr>
              <a:r>
                <a:rPr lang="en-US" sz="1875" spc="150" b="true">
                  <a:solidFill>
                    <a:srgbClr val="B79352"/>
                  </a:solidFill>
                  <a:latin typeface="Montserrat Bold"/>
                  <a:ea typeface="Montserrat Bold"/>
                  <a:cs typeface="Montserrat Bold"/>
                  <a:sym typeface="Montserrat Bold"/>
                </a:rPr>
                <a:t>02  Thiết lập hàng rào</a:t>
              </a:r>
            </a:p>
          </p:txBody>
        </p:sp>
        <p:sp>
          <p:nvSpPr>
            <p:cNvPr name="TextBox 15" id="15"/>
            <p:cNvSpPr txBox="true"/>
            <p:nvPr/>
          </p:nvSpPr>
          <p:spPr>
            <a:xfrm rot="0">
              <a:off x="406400" y="1012825"/>
              <a:ext cx="4330700" cy="9150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Chính sách bảo mật dữ liệu</a:t>
              </a:r>
            </a:p>
          </p:txBody>
        </p:sp>
      </p:grpSp>
      <p:sp>
        <p:nvSpPr>
          <p:cNvPr name="AutoShape 16" id="16"/>
          <p:cNvSpPr/>
          <p:nvPr/>
        </p:nvSpPr>
        <p:spPr>
          <a:xfrm>
            <a:off x="9048750" y="5334000"/>
            <a:ext cx="333375" cy="0"/>
          </a:xfrm>
          <a:prstGeom prst="line">
            <a:avLst/>
          </a:prstGeom>
          <a:ln cap="flat" w="28575">
            <a:solidFill>
              <a:srgbClr val="B79352"/>
            </a:solidFill>
            <a:prstDash val="solid"/>
            <a:headEnd type="none" len="sm" w="sm"/>
            <a:tailEnd type="arrow" len="sm" w="med"/>
          </a:ln>
        </p:spPr>
      </p:sp>
      <p:grpSp>
        <p:nvGrpSpPr>
          <p:cNvPr name="Group 17" id="17"/>
          <p:cNvGrpSpPr/>
          <p:nvPr/>
        </p:nvGrpSpPr>
        <p:grpSpPr>
          <a:xfrm rot="0">
            <a:off x="9429750" y="2952750"/>
            <a:ext cx="3857625" cy="4762500"/>
            <a:chOff x="0" y="0"/>
            <a:chExt cx="5143500" cy="6350000"/>
          </a:xfrm>
        </p:grpSpPr>
        <p:grpSp>
          <p:nvGrpSpPr>
            <p:cNvPr name="Group 18" id="18"/>
            <p:cNvGrpSpPr/>
            <p:nvPr/>
          </p:nvGrpSpPr>
          <p:grpSpPr>
            <a:xfrm rot="0">
              <a:off x="0" y="0"/>
              <a:ext cx="5143500" cy="6350000"/>
              <a:chOff x="0" y="0"/>
              <a:chExt cx="5143500" cy="6350000"/>
            </a:xfrm>
          </p:grpSpPr>
          <p:sp>
            <p:nvSpPr>
              <p:cNvPr name="Freeform 19" id="19"/>
              <p:cNvSpPr/>
              <p:nvPr/>
            </p:nvSpPr>
            <p:spPr>
              <a:xfrm flipH="false" flipV="false" rot="0">
                <a:off x="0" y="0"/>
                <a:ext cx="5143500" cy="6350000"/>
              </a:xfrm>
              <a:custGeom>
                <a:avLst/>
                <a:gdLst/>
                <a:ahLst/>
                <a:cxnLst/>
                <a:rect r="r" b="b" t="t" l="l"/>
                <a:pathLst>
                  <a:path h="6350000" w="5143500">
                    <a:moveTo>
                      <a:pt x="0" y="0"/>
                    </a:moveTo>
                    <a:lnTo>
                      <a:pt x="5143500" y="0"/>
                    </a:lnTo>
                    <a:lnTo>
                      <a:pt x="5143500" y="6350000"/>
                    </a:lnTo>
                    <a:lnTo>
                      <a:pt x="0" y="6350000"/>
                    </a:lnTo>
                    <a:close/>
                  </a:path>
                </a:pathLst>
              </a:custGeom>
              <a:solidFill>
                <a:srgbClr val="FFFFFF"/>
              </a:solidFill>
              <a:ln cap="sq">
                <a:noFill/>
                <a:prstDash val="solid"/>
                <a:miter/>
              </a:ln>
            </p:spPr>
          </p:sp>
          <p:sp>
            <p:nvSpPr>
              <p:cNvPr name="TextBox 20" id="20"/>
              <p:cNvSpPr txBox="true"/>
              <p:nvPr/>
            </p:nvSpPr>
            <p:spPr>
              <a:xfrm>
                <a:off x="0" y="-38100"/>
                <a:ext cx="5143500" cy="6388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406400" y="333375"/>
              <a:ext cx="4330700" cy="438785"/>
            </a:xfrm>
            <a:prstGeom prst="rect">
              <a:avLst/>
            </a:prstGeom>
          </p:spPr>
          <p:txBody>
            <a:bodyPr anchor="t" rtlCol="false" tIns="0" lIns="0" bIns="0" rIns="0">
              <a:spAutoFit/>
            </a:bodyPr>
            <a:lstStyle/>
            <a:p>
              <a:pPr algn="l">
                <a:lnSpc>
                  <a:spcPts val="2729"/>
                </a:lnSpc>
              </a:pPr>
              <a:r>
                <a:rPr lang="en-US" sz="1950" spc="156" b="true">
                  <a:solidFill>
                    <a:srgbClr val="B79352"/>
                  </a:solidFill>
                  <a:latin typeface="Montserrat Bold"/>
                  <a:ea typeface="Montserrat Bold"/>
                  <a:cs typeface="Montserrat Bold"/>
                  <a:sym typeface="Montserrat Bold"/>
                </a:rPr>
                <a:t>03  Giữ cân bằng</a:t>
              </a:r>
            </a:p>
          </p:txBody>
        </p:sp>
        <p:sp>
          <p:nvSpPr>
            <p:cNvPr name="TextBox 22" id="22"/>
            <p:cNvSpPr txBox="true"/>
            <p:nvPr/>
          </p:nvSpPr>
          <p:spPr>
            <a:xfrm rot="0">
              <a:off x="406400" y="1012825"/>
              <a:ext cx="4330700" cy="9150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Kết hợp AI với phương pháp truyền thống</a:t>
              </a:r>
            </a:p>
          </p:txBody>
        </p:sp>
      </p:grpSp>
      <p:sp>
        <p:nvSpPr>
          <p:cNvPr name="AutoShape 23" id="23"/>
          <p:cNvSpPr/>
          <p:nvPr/>
        </p:nvSpPr>
        <p:spPr>
          <a:xfrm>
            <a:off x="13287375" y="5334000"/>
            <a:ext cx="333375" cy="0"/>
          </a:xfrm>
          <a:prstGeom prst="line">
            <a:avLst/>
          </a:prstGeom>
          <a:ln cap="flat" w="28575">
            <a:solidFill>
              <a:srgbClr val="B79352"/>
            </a:solidFill>
            <a:prstDash val="solid"/>
            <a:headEnd type="none" len="sm" w="sm"/>
            <a:tailEnd type="arrow" len="sm" w="med"/>
          </a:ln>
        </p:spPr>
      </p:sp>
      <p:grpSp>
        <p:nvGrpSpPr>
          <p:cNvPr name="Group 24" id="24"/>
          <p:cNvGrpSpPr/>
          <p:nvPr/>
        </p:nvGrpSpPr>
        <p:grpSpPr>
          <a:xfrm rot="0">
            <a:off x="13668375" y="2952750"/>
            <a:ext cx="3857625" cy="4762500"/>
            <a:chOff x="0" y="0"/>
            <a:chExt cx="5143500" cy="6350000"/>
          </a:xfrm>
        </p:grpSpPr>
        <p:grpSp>
          <p:nvGrpSpPr>
            <p:cNvPr name="Group 25" id="25"/>
            <p:cNvGrpSpPr/>
            <p:nvPr/>
          </p:nvGrpSpPr>
          <p:grpSpPr>
            <a:xfrm rot="0">
              <a:off x="0" y="0"/>
              <a:ext cx="5143500" cy="6350000"/>
              <a:chOff x="0" y="0"/>
              <a:chExt cx="5143500" cy="6350000"/>
            </a:xfrm>
          </p:grpSpPr>
          <p:sp>
            <p:nvSpPr>
              <p:cNvPr name="Freeform 26" id="26"/>
              <p:cNvSpPr/>
              <p:nvPr/>
            </p:nvSpPr>
            <p:spPr>
              <a:xfrm flipH="false" flipV="false" rot="0">
                <a:off x="0" y="0"/>
                <a:ext cx="5143500" cy="6350000"/>
              </a:xfrm>
              <a:custGeom>
                <a:avLst/>
                <a:gdLst/>
                <a:ahLst/>
                <a:cxnLst/>
                <a:rect r="r" b="b" t="t" l="l"/>
                <a:pathLst>
                  <a:path h="6350000" w="5143500">
                    <a:moveTo>
                      <a:pt x="0" y="0"/>
                    </a:moveTo>
                    <a:lnTo>
                      <a:pt x="5143500" y="0"/>
                    </a:lnTo>
                    <a:lnTo>
                      <a:pt x="5143500" y="6350000"/>
                    </a:lnTo>
                    <a:lnTo>
                      <a:pt x="0" y="6350000"/>
                    </a:lnTo>
                    <a:close/>
                  </a:path>
                </a:pathLst>
              </a:custGeom>
              <a:solidFill>
                <a:srgbClr val="FFFFFF"/>
              </a:solidFill>
              <a:ln cap="sq">
                <a:noFill/>
                <a:prstDash val="solid"/>
                <a:miter/>
              </a:ln>
            </p:spPr>
          </p:sp>
          <p:sp>
            <p:nvSpPr>
              <p:cNvPr name="TextBox 27" id="27"/>
              <p:cNvSpPr txBox="true"/>
              <p:nvPr/>
            </p:nvSpPr>
            <p:spPr>
              <a:xfrm>
                <a:off x="0" y="-38100"/>
                <a:ext cx="5143500" cy="6388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406400" y="342900"/>
              <a:ext cx="4330700" cy="386080"/>
            </a:xfrm>
            <a:prstGeom prst="rect">
              <a:avLst/>
            </a:prstGeom>
          </p:spPr>
          <p:txBody>
            <a:bodyPr anchor="t" rtlCol="false" tIns="0" lIns="0" bIns="0" rIns="0">
              <a:spAutoFit/>
            </a:bodyPr>
            <a:lstStyle/>
            <a:p>
              <a:pPr algn="l">
                <a:lnSpc>
                  <a:spcPts val="2415"/>
                </a:lnSpc>
              </a:pPr>
              <a:r>
                <a:rPr lang="en-US" sz="1725" spc="138" b="true">
                  <a:solidFill>
                    <a:srgbClr val="B79352"/>
                  </a:solidFill>
                  <a:latin typeface="Montserrat Bold"/>
                  <a:ea typeface="Montserrat Bold"/>
                  <a:cs typeface="Montserrat Bold"/>
                  <a:sym typeface="Montserrat Bold"/>
                </a:rPr>
                <a:t>04  Học qua thử nghiệm</a:t>
              </a:r>
            </a:p>
          </p:txBody>
        </p:sp>
        <p:sp>
          <p:nvSpPr>
            <p:cNvPr name="TextBox 29" id="29"/>
            <p:cNvSpPr txBox="true"/>
            <p:nvPr/>
          </p:nvSpPr>
          <p:spPr>
            <a:xfrm rot="0">
              <a:off x="406400" y="1012825"/>
              <a:ext cx="4330700" cy="915035"/>
            </a:xfrm>
            <a:prstGeom prst="rect">
              <a:avLst/>
            </a:prstGeom>
          </p:spPr>
          <p:txBody>
            <a:bodyPr anchor="t" rtlCol="false" tIns="0" lIns="0" bIns="0" rIns="0">
              <a:spAutoFit/>
            </a:bodyPr>
            <a:lstStyle/>
            <a:p>
              <a:pPr algn="l">
                <a:lnSpc>
                  <a:spcPts val="2835"/>
                </a:lnSpc>
              </a:pPr>
              <a:r>
                <a:rPr lang="en-US" sz="2100">
                  <a:solidFill>
                    <a:srgbClr val="172235"/>
                  </a:solidFill>
                  <a:latin typeface="Montserrat"/>
                  <a:ea typeface="Montserrat"/>
                  <a:cs typeface="Montserrat"/>
                  <a:sym typeface="Montserrat"/>
                </a:rPr>
                <a:t>Đánh giá hiệu quả theo chu kỳ</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01B2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a:ln cap="sq">
            <a:noFill/>
            <a:prstDash val="solid"/>
            <a:miter/>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B2D">
                <a:alpha val="61961"/>
              </a:srgbClr>
            </a:solidFill>
            <a:ln cap="sq">
              <a:noFill/>
              <a:prstDash val="solid"/>
              <a:miter/>
            </a:ln>
          </p:spPr>
        </p:sp>
        <p:sp>
          <p:nvSpPr>
            <p:cNvPr name="TextBox 5" id="5"/>
            <p:cNvSpPr txBox="true"/>
            <p:nvPr/>
          </p:nvSpPr>
          <p:spPr>
            <a:xfrm>
              <a:off x="0" y="-38100"/>
              <a:ext cx="24384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2381250" y="2514600"/>
            <a:ext cx="13525500" cy="1790509"/>
          </a:xfrm>
          <a:prstGeom prst="rect">
            <a:avLst/>
          </a:prstGeom>
        </p:spPr>
        <p:txBody>
          <a:bodyPr anchor="t" rtlCol="false" tIns="0" lIns="0" bIns="0" rIns="0">
            <a:spAutoFit/>
          </a:bodyPr>
          <a:lstStyle/>
          <a:p>
            <a:pPr algn="ctr">
              <a:lnSpc>
                <a:spcPts val="4666"/>
              </a:lnSpc>
            </a:pPr>
            <a:r>
              <a:rPr lang="en-US" sz="4575" b="true">
                <a:solidFill>
                  <a:srgbClr val="FFFFFF"/>
                </a:solidFill>
                <a:latin typeface="Cormorant Garamond Bold"/>
                <a:ea typeface="Cormorant Garamond Bold"/>
                <a:cs typeface="Cormorant Garamond Bold"/>
                <a:sym typeface="Cormorant Garamond Bold"/>
              </a:rPr>
              <a:t>“Giáo dục không chỉ là truyền đạt kiến thức mà là tạo ra những người học biết sáng tạo và thích nghi – AI là công cụ để mở rộng khả năng đó.”</a:t>
            </a:r>
          </a:p>
        </p:txBody>
      </p:sp>
      <p:sp>
        <p:nvSpPr>
          <p:cNvPr name="TextBox 7" id="7"/>
          <p:cNvSpPr txBox="true"/>
          <p:nvPr/>
        </p:nvSpPr>
        <p:spPr>
          <a:xfrm rot="0">
            <a:off x="4000500" y="7724775"/>
            <a:ext cx="10287000" cy="299085"/>
          </a:xfrm>
          <a:prstGeom prst="rect">
            <a:avLst/>
          </a:prstGeom>
        </p:spPr>
        <p:txBody>
          <a:bodyPr anchor="t" rtlCol="false" tIns="0" lIns="0" bIns="0" rIns="0">
            <a:spAutoFit/>
          </a:bodyPr>
          <a:lstStyle/>
          <a:p>
            <a:pPr algn="ctr">
              <a:lnSpc>
                <a:spcPts val="2415"/>
              </a:lnSpc>
            </a:pPr>
            <a:r>
              <a:rPr lang="en-US" b="true" sz="1725" spc="138">
                <a:solidFill>
                  <a:srgbClr val="B79352"/>
                </a:solidFill>
                <a:latin typeface="Montserrat Bold"/>
                <a:ea typeface="Montserrat Bold"/>
                <a:cs typeface="Montserrat Bold"/>
                <a:sym typeface="Montserrat Bold"/>
              </a:rPr>
              <a:t>TẦM NHÌN: CÔNG NGHỆ PHỤC VỤ NĂNG LỰC CON NGƯỜI</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3EFE6"/>
        </a:solidFill>
      </p:bgPr>
    </p:bg>
    <p:spTree>
      <p:nvGrpSpPr>
        <p:cNvPr id="1" name=""/>
        <p:cNvGrpSpPr/>
        <p:nvPr/>
      </p:nvGrpSpPr>
      <p:grpSpPr>
        <a:xfrm>
          <a:off x="0" y="0"/>
          <a:ext cx="0" cy="0"/>
          <a:chOff x="0" y="0"/>
          <a:chExt cx="0" cy="0"/>
        </a:xfrm>
      </p:grpSpPr>
      <p:sp>
        <p:nvSpPr>
          <p:cNvPr name="TextBox 2" id="2"/>
          <p:cNvSpPr txBox="true"/>
          <p:nvPr/>
        </p:nvSpPr>
        <p:spPr>
          <a:xfrm rot="0">
            <a:off x="1047750" y="1562100"/>
            <a:ext cx="7239000" cy="2085022"/>
          </a:xfrm>
          <a:prstGeom prst="rect">
            <a:avLst/>
          </a:prstGeom>
        </p:spPr>
        <p:txBody>
          <a:bodyPr anchor="t" rtlCol="false" tIns="0" lIns="0" bIns="0" rIns="0">
            <a:spAutoFit/>
          </a:bodyPr>
          <a:lstStyle/>
          <a:p>
            <a:pPr algn="l">
              <a:lnSpc>
                <a:spcPts val="8032"/>
              </a:lnSpc>
            </a:pPr>
            <a:r>
              <a:rPr lang="en-US" sz="7875" b="true">
                <a:solidFill>
                  <a:srgbClr val="172235"/>
                </a:solidFill>
                <a:latin typeface="Cormorant Garamond Bold"/>
                <a:ea typeface="Cormorant Garamond Bold"/>
                <a:cs typeface="Cormorant Garamond Bold"/>
                <a:sym typeface="Cormorant Garamond Bold"/>
              </a:rPr>
              <a:t>Câu hỏi &amp;</a:t>
            </a:r>
          </a:p>
          <a:p>
            <a:pPr algn="l">
              <a:lnSpc>
                <a:spcPts val="8032"/>
              </a:lnSpc>
            </a:pPr>
            <a:r>
              <a:rPr lang="en-US" sz="7875" b="true">
                <a:solidFill>
                  <a:srgbClr val="172235"/>
                </a:solidFill>
                <a:latin typeface="Cormorant Garamond Bold"/>
                <a:ea typeface="Cormorant Garamond Bold"/>
                <a:cs typeface="Cormorant Garamond Bold"/>
                <a:sym typeface="Cormorant Garamond Bold"/>
              </a:rPr>
              <a:t>Thảo luận</a:t>
            </a:r>
          </a:p>
        </p:txBody>
      </p:sp>
      <p:sp>
        <p:nvSpPr>
          <p:cNvPr name="TextBox 3" id="3"/>
          <p:cNvSpPr txBox="true"/>
          <p:nvPr/>
        </p:nvSpPr>
        <p:spPr>
          <a:xfrm rot="0">
            <a:off x="1143000" y="4152900"/>
            <a:ext cx="6096000" cy="376238"/>
          </a:xfrm>
          <a:prstGeom prst="rect">
            <a:avLst/>
          </a:prstGeom>
        </p:spPr>
        <p:txBody>
          <a:bodyPr anchor="t" rtlCol="false" tIns="0" lIns="0" bIns="0" rIns="0">
            <a:spAutoFit/>
          </a:bodyPr>
          <a:lstStyle/>
          <a:p>
            <a:pPr algn="l">
              <a:lnSpc>
                <a:spcPts val="3037"/>
              </a:lnSpc>
            </a:pPr>
            <a:r>
              <a:rPr lang="en-US" sz="2250">
                <a:solidFill>
                  <a:srgbClr val="697386"/>
                </a:solidFill>
                <a:latin typeface="Montserrat"/>
                <a:ea typeface="Montserrat"/>
                <a:cs typeface="Montserrat"/>
                <a:sym typeface="Montserrat"/>
              </a:rPr>
              <a:t>Góc nhìn nào cần được đào sâu?</a:t>
            </a:r>
          </a:p>
        </p:txBody>
      </p:sp>
      <p:sp>
        <p:nvSpPr>
          <p:cNvPr name="TextBox 4" id="4"/>
          <p:cNvSpPr txBox="true"/>
          <p:nvPr/>
        </p:nvSpPr>
        <p:spPr>
          <a:xfrm rot="0">
            <a:off x="9906000" y="2057400"/>
            <a:ext cx="4762500" cy="281940"/>
          </a:xfrm>
          <a:prstGeom prst="rect">
            <a:avLst/>
          </a:prstGeom>
        </p:spPr>
        <p:txBody>
          <a:bodyPr anchor="t" rtlCol="false" tIns="0" lIns="0" bIns="0" rIns="0">
            <a:spAutoFit/>
          </a:bodyPr>
          <a:lstStyle/>
          <a:p>
            <a:pPr algn="l">
              <a:lnSpc>
                <a:spcPts val="2310"/>
              </a:lnSpc>
            </a:pPr>
            <a:r>
              <a:rPr lang="en-US" sz="1650" spc="132" b="true">
                <a:solidFill>
                  <a:srgbClr val="B79352"/>
                </a:solidFill>
                <a:latin typeface="Montserrat Bold"/>
                <a:ea typeface="Montserrat Bold"/>
                <a:cs typeface="Montserrat Bold"/>
                <a:sym typeface="Montserrat Bold"/>
              </a:rPr>
              <a:t>GHI CHÚ</a:t>
            </a:r>
          </a:p>
        </p:txBody>
      </p:sp>
      <p:sp>
        <p:nvSpPr>
          <p:cNvPr name="AutoShape 5" id="5"/>
          <p:cNvSpPr/>
          <p:nvPr/>
        </p:nvSpPr>
        <p:spPr>
          <a:xfrm>
            <a:off x="9906000" y="2952750"/>
            <a:ext cx="6858000" cy="0"/>
          </a:xfrm>
          <a:prstGeom prst="line">
            <a:avLst/>
          </a:prstGeom>
          <a:ln cap="flat" w="19050">
            <a:solidFill>
              <a:srgbClr val="C8C1B4"/>
            </a:solidFill>
            <a:prstDash val="solid"/>
            <a:headEnd type="none" len="sm" w="sm"/>
            <a:tailEnd type="none" len="sm" w="sm"/>
          </a:ln>
        </p:spPr>
      </p:sp>
      <p:sp>
        <p:nvSpPr>
          <p:cNvPr name="AutoShape 6" id="6"/>
          <p:cNvSpPr/>
          <p:nvPr/>
        </p:nvSpPr>
        <p:spPr>
          <a:xfrm>
            <a:off x="9906000" y="4095750"/>
            <a:ext cx="6858000" cy="0"/>
          </a:xfrm>
          <a:prstGeom prst="line">
            <a:avLst/>
          </a:prstGeom>
          <a:ln cap="flat" w="19050">
            <a:solidFill>
              <a:srgbClr val="C8C1B4"/>
            </a:solidFill>
            <a:prstDash val="solid"/>
            <a:headEnd type="none" len="sm" w="sm"/>
            <a:tailEnd type="none" len="sm" w="sm"/>
          </a:ln>
        </p:spPr>
      </p:sp>
      <p:sp>
        <p:nvSpPr>
          <p:cNvPr name="AutoShape 7" id="7"/>
          <p:cNvSpPr/>
          <p:nvPr/>
        </p:nvSpPr>
        <p:spPr>
          <a:xfrm>
            <a:off x="9906000" y="5238750"/>
            <a:ext cx="6858000" cy="0"/>
          </a:xfrm>
          <a:prstGeom prst="line">
            <a:avLst/>
          </a:prstGeom>
          <a:ln cap="flat" w="19050">
            <a:solidFill>
              <a:srgbClr val="C8C1B4"/>
            </a:solidFill>
            <a:prstDash val="solid"/>
            <a:headEnd type="none" len="sm" w="sm"/>
            <a:tailEnd type="none" len="sm" w="sm"/>
          </a:ln>
        </p:spPr>
      </p:sp>
      <p:sp>
        <p:nvSpPr>
          <p:cNvPr name="AutoShape 8" id="8"/>
          <p:cNvSpPr/>
          <p:nvPr/>
        </p:nvSpPr>
        <p:spPr>
          <a:xfrm>
            <a:off x="9906000" y="6381750"/>
            <a:ext cx="6858000" cy="0"/>
          </a:xfrm>
          <a:prstGeom prst="line">
            <a:avLst/>
          </a:prstGeom>
          <a:ln cap="flat" w="19050">
            <a:solidFill>
              <a:srgbClr val="C8C1B4"/>
            </a:solidFill>
            <a:prstDash val="solid"/>
            <a:headEnd type="none" len="sm" w="sm"/>
            <a:tailEnd type="none" len="sm" w="sm"/>
          </a:ln>
        </p:spPr>
      </p:sp>
      <p:sp>
        <p:nvSpPr>
          <p:cNvPr name="AutoShape 9" id="9"/>
          <p:cNvSpPr/>
          <p:nvPr/>
        </p:nvSpPr>
        <p:spPr>
          <a:xfrm>
            <a:off x="9906000" y="7524750"/>
            <a:ext cx="6858000" cy="0"/>
          </a:xfrm>
          <a:prstGeom prst="line">
            <a:avLst/>
          </a:prstGeom>
          <a:ln cap="flat" w="19050">
            <a:solidFill>
              <a:srgbClr val="C8C1B4"/>
            </a:solidFill>
            <a:prstDash val="solid"/>
            <a:headEnd type="none" len="sm" w="sm"/>
            <a:tailEnd type="none" len="sm" w="sm"/>
          </a:ln>
        </p:spPr>
      </p:sp>
      <p:grpSp>
        <p:nvGrpSpPr>
          <p:cNvPr name="Group 10" id="10"/>
          <p:cNvGrpSpPr/>
          <p:nvPr/>
        </p:nvGrpSpPr>
        <p:grpSpPr>
          <a:xfrm rot="0">
            <a:off x="1524000" y="6667500"/>
            <a:ext cx="3619500" cy="2095500"/>
            <a:chOff x="0" y="0"/>
            <a:chExt cx="4826000" cy="2794000"/>
          </a:xfrm>
        </p:grpSpPr>
        <p:sp>
          <p:nvSpPr>
            <p:cNvPr name="Freeform 11" id="11"/>
            <p:cNvSpPr/>
            <p:nvPr/>
          </p:nvSpPr>
          <p:spPr>
            <a:xfrm flipH="false" flipV="false" rot="0">
              <a:off x="0" y="0"/>
              <a:ext cx="4826000" cy="2794000"/>
            </a:xfrm>
            <a:custGeom>
              <a:avLst/>
              <a:gdLst/>
              <a:ahLst/>
              <a:cxnLst/>
              <a:rect r="r" b="b" t="t" l="l"/>
              <a:pathLst>
                <a:path h="2794000" w="4826000">
                  <a:moveTo>
                    <a:pt x="2413000" y="0"/>
                  </a:moveTo>
                  <a:cubicBezTo>
                    <a:pt x="3745663" y="0"/>
                    <a:pt x="4826000" y="625458"/>
                    <a:pt x="4826000" y="1397000"/>
                  </a:cubicBezTo>
                  <a:cubicBezTo>
                    <a:pt x="4826000" y="2168542"/>
                    <a:pt x="3745663" y="2794000"/>
                    <a:pt x="2413000" y="2794000"/>
                  </a:cubicBezTo>
                  <a:cubicBezTo>
                    <a:pt x="1080337" y="2794000"/>
                    <a:pt x="0" y="2168542"/>
                    <a:pt x="0" y="1397000"/>
                  </a:cubicBezTo>
                  <a:cubicBezTo>
                    <a:pt x="0" y="625458"/>
                    <a:pt x="1080337" y="0"/>
                    <a:pt x="2413000" y="0"/>
                  </a:cubicBezTo>
                  <a:close/>
                </a:path>
              </a:pathLst>
            </a:custGeom>
            <a:solidFill>
              <a:srgbClr val="101B2D"/>
            </a:solidFill>
            <a:ln cap="sq">
              <a:noFill/>
              <a:prstDash val="solid"/>
              <a:miter/>
            </a:ln>
          </p:spPr>
        </p:sp>
        <p:sp>
          <p:nvSpPr>
            <p:cNvPr name="TextBox 12" id="12"/>
            <p:cNvSpPr txBox="true"/>
            <p:nvPr/>
          </p:nvSpPr>
          <p:spPr>
            <a:xfrm>
              <a:off x="0" y="-152400"/>
              <a:ext cx="4826000" cy="2946400"/>
            </a:xfrm>
            <a:prstGeom prst="rect">
              <a:avLst/>
            </a:prstGeom>
          </p:spPr>
          <p:txBody>
            <a:bodyPr anchor="ctr" rtlCol="false" tIns="50800" lIns="50800" bIns="50800" rIns="50800"/>
            <a:lstStyle/>
            <a:p>
              <a:pPr algn="ctr">
                <a:lnSpc>
                  <a:spcPts val="11549"/>
                </a:lnSpc>
              </a:pPr>
              <a:r>
                <a:rPr lang="en-US" sz="8250" b="true">
                  <a:solidFill>
                    <a:srgbClr val="B79352"/>
                  </a:solidFill>
                  <a:latin typeface="Cormorant Garamond Bold"/>
                  <a:ea typeface="Cormorant Garamond Bold"/>
                  <a:cs typeface="Cormorant Garamond Bold"/>
                  <a:sym typeface="Cormorant Garamond Bold"/>
                </a:rPr>
                <a:t>?</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101B2D"/>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4318000" cy="13716000"/>
          </a:xfrm>
        </p:grpSpPr>
        <p:sp>
          <p:nvSpPr>
            <p:cNvPr name="Freeform 3" id="3"/>
            <p:cNvSpPr/>
            <p:nvPr/>
          </p:nvSpPr>
          <p:spPr>
            <a:xfrm flipH="false" flipV="false" rot="0">
              <a:off x="0" y="0"/>
              <a:ext cx="4318000" cy="13716000"/>
            </a:xfrm>
            <a:custGeom>
              <a:avLst/>
              <a:gdLst/>
              <a:ahLst/>
              <a:cxnLst/>
              <a:rect r="r" b="b" t="t" l="l"/>
              <a:pathLst>
                <a:path h="13716000" w="4318000">
                  <a:moveTo>
                    <a:pt x="0" y="0"/>
                  </a:moveTo>
                  <a:lnTo>
                    <a:pt x="4318000" y="0"/>
                  </a:lnTo>
                  <a:lnTo>
                    <a:pt x="4318000" y="13716000"/>
                  </a:lnTo>
                  <a:lnTo>
                    <a:pt x="0" y="13716000"/>
                  </a:lnTo>
                  <a:close/>
                </a:path>
              </a:pathLst>
            </a:custGeom>
            <a:solidFill>
              <a:srgbClr val="B79352"/>
            </a:solidFill>
            <a:ln cap="sq">
              <a:noFill/>
              <a:prstDash val="solid"/>
              <a:miter/>
            </a:ln>
          </p:spPr>
        </p:sp>
        <p:sp>
          <p:nvSpPr>
            <p:cNvPr name="TextBox 4" id="4"/>
            <p:cNvSpPr txBox="true"/>
            <p:nvPr/>
          </p:nvSpPr>
          <p:spPr>
            <a:xfrm>
              <a:off x="0" y="-38100"/>
              <a:ext cx="4318000" cy="1375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3811250" y="2476500"/>
            <a:ext cx="2476500" cy="2476500"/>
            <a:chOff x="0" y="0"/>
            <a:chExt cx="3302000" cy="3302000"/>
          </a:xfrm>
        </p:grpSpPr>
        <p:sp>
          <p:nvSpPr>
            <p:cNvPr name="Freeform 6" id="6"/>
            <p:cNvSpPr/>
            <p:nvPr/>
          </p:nvSpPr>
          <p:spPr>
            <a:xfrm flipH="false" flipV="false" rot="0">
              <a:off x="0" y="0"/>
              <a:ext cx="3302000" cy="3302000"/>
            </a:xfrm>
            <a:custGeom>
              <a:avLst/>
              <a:gdLst/>
              <a:ahLst/>
              <a:cxnLst/>
              <a:rect r="r" b="b" t="t" l="l"/>
              <a:pathLst>
                <a:path h="3302000" w="3302000">
                  <a:moveTo>
                    <a:pt x="1651000" y="0"/>
                  </a:moveTo>
                  <a:cubicBezTo>
                    <a:pt x="2562822" y="0"/>
                    <a:pt x="3302000" y="739178"/>
                    <a:pt x="3302000" y="1651000"/>
                  </a:cubicBezTo>
                  <a:cubicBezTo>
                    <a:pt x="3302000" y="2562822"/>
                    <a:pt x="2562822" y="3302000"/>
                    <a:pt x="1651000" y="3302000"/>
                  </a:cubicBezTo>
                  <a:cubicBezTo>
                    <a:pt x="739178" y="3302000"/>
                    <a:pt x="0" y="2562822"/>
                    <a:pt x="0" y="1651000"/>
                  </a:cubicBezTo>
                  <a:cubicBezTo>
                    <a:pt x="0" y="739178"/>
                    <a:pt x="739178" y="0"/>
                    <a:pt x="1651000" y="0"/>
                  </a:cubicBezTo>
                  <a:close/>
                </a:path>
              </a:pathLst>
            </a:custGeom>
            <a:solidFill>
              <a:srgbClr val="F3EFE6"/>
            </a:solidFill>
            <a:ln cap="sq">
              <a:noFill/>
              <a:prstDash val="solid"/>
              <a:miter/>
            </a:ln>
          </p:spPr>
        </p:sp>
        <p:sp>
          <p:nvSpPr>
            <p:cNvPr name="TextBox 7" id="7"/>
            <p:cNvSpPr txBox="true"/>
            <p:nvPr/>
          </p:nvSpPr>
          <p:spPr>
            <a:xfrm>
              <a:off x="0" y="-38100"/>
              <a:ext cx="3302000" cy="3340100"/>
            </a:xfrm>
            <a:prstGeom prst="rect">
              <a:avLst/>
            </a:prstGeom>
          </p:spPr>
          <p:txBody>
            <a:bodyPr anchor="ctr" rtlCol="false" tIns="50800" lIns="50800" bIns="50800" rIns="50800"/>
            <a:lstStyle/>
            <a:p>
              <a:pPr algn="ctr">
                <a:lnSpc>
                  <a:spcPts val="2835"/>
                </a:lnSpc>
              </a:pPr>
              <a:r>
                <a:rPr lang="en-US" sz="2025" b="true">
                  <a:solidFill>
                    <a:srgbClr val="101B2D"/>
                  </a:solidFill>
                  <a:latin typeface="Montserrat Bold"/>
                  <a:ea typeface="Montserrat Bold"/>
                  <a:cs typeface="Montserrat Bold"/>
                  <a:sym typeface="Montserrat Bold"/>
                </a:rPr>
                <a:t>AI × EDU</a:t>
              </a:r>
            </a:p>
          </p:txBody>
        </p:sp>
      </p:grpSp>
      <p:sp>
        <p:nvSpPr>
          <p:cNvPr name="TextBox 8" id="8"/>
          <p:cNvSpPr txBox="true"/>
          <p:nvPr/>
        </p:nvSpPr>
        <p:spPr>
          <a:xfrm rot="0">
            <a:off x="1047750" y="2343150"/>
            <a:ext cx="10001250" cy="1192911"/>
          </a:xfrm>
          <a:prstGeom prst="rect">
            <a:avLst/>
          </a:prstGeom>
        </p:spPr>
        <p:txBody>
          <a:bodyPr anchor="t" rtlCol="false" tIns="0" lIns="0" bIns="0" rIns="0">
            <a:spAutoFit/>
          </a:bodyPr>
          <a:lstStyle/>
          <a:p>
            <a:pPr algn="l">
              <a:lnSpc>
                <a:spcPts val="9027"/>
              </a:lnSpc>
            </a:pPr>
            <a:r>
              <a:rPr lang="en-US" sz="8850" b="true">
                <a:solidFill>
                  <a:srgbClr val="FFFFFF"/>
                </a:solidFill>
                <a:latin typeface="Cormorant Garamond Bold"/>
                <a:ea typeface="Cormorant Garamond Bold"/>
                <a:cs typeface="Cormorant Garamond Bold"/>
                <a:sym typeface="Cormorant Garamond Bold"/>
              </a:rPr>
              <a:t>Xin cảm ơn</a:t>
            </a:r>
          </a:p>
        </p:txBody>
      </p:sp>
      <p:sp>
        <p:nvSpPr>
          <p:cNvPr name="TextBox 9" id="9"/>
          <p:cNvSpPr txBox="true"/>
          <p:nvPr/>
        </p:nvSpPr>
        <p:spPr>
          <a:xfrm rot="0">
            <a:off x="1143000" y="4057650"/>
            <a:ext cx="9334500" cy="901065"/>
          </a:xfrm>
          <a:prstGeom prst="rect">
            <a:avLst/>
          </a:prstGeom>
        </p:spPr>
        <p:txBody>
          <a:bodyPr anchor="t" rtlCol="false" tIns="0" lIns="0" bIns="0" rIns="0">
            <a:spAutoFit/>
          </a:bodyPr>
          <a:lstStyle/>
          <a:p>
            <a:pPr algn="l">
              <a:lnSpc>
                <a:spcPts val="3645"/>
              </a:lnSpc>
            </a:pPr>
            <a:r>
              <a:rPr lang="en-US" sz="2700">
                <a:solidFill>
                  <a:srgbClr val="D7E2E8"/>
                </a:solidFill>
                <a:latin typeface="Montserrat"/>
                <a:ea typeface="Montserrat"/>
                <a:cs typeface="Montserrat"/>
                <a:sym typeface="Montserrat"/>
              </a:rPr>
              <a:t>Cùng kiến tạo một nền giáo dục thông minh, nhân văn và thích ứng.</a:t>
            </a:r>
          </a:p>
        </p:txBody>
      </p:sp>
      <p:sp>
        <p:nvSpPr>
          <p:cNvPr name="TextBox 10" id="10"/>
          <p:cNvSpPr txBox="true"/>
          <p:nvPr/>
        </p:nvSpPr>
        <p:spPr>
          <a:xfrm rot="0">
            <a:off x="1143000" y="7486650"/>
            <a:ext cx="10001250" cy="323850"/>
          </a:xfrm>
          <a:prstGeom prst="rect">
            <a:avLst/>
          </a:prstGeom>
        </p:spPr>
        <p:txBody>
          <a:bodyPr anchor="t" rtlCol="false" tIns="0" lIns="0" bIns="0" rIns="0">
            <a:spAutoFit/>
          </a:bodyPr>
          <a:lstStyle/>
          <a:p>
            <a:pPr algn="l">
              <a:lnSpc>
                <a:spcPts val="2625"/>
              </a:lnSpc>
            </a:pPr>
            <a:r>
              <a:rPr lang="en-US" sz="1875" spc="150" b="true">
                <a:solidFill>
                  <a:srgbClr val="B79352"/>
                </a:solidFill>
                <a:latin typeface="Montserrat Bold"/>
                <a:ea typeface="Montserrat Bold"/>
                <a:cs typeface="Montserrat Bold"/>
                <a:sym typeface="Montserrat Bold"/>
              </a:rPr>
              <a:t>EMAIL  •  SỐ ĐIỆN THOẠI  •  WEBSITE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DAHYFZYYTdk</dc:identifier>
  <dcterms:modified xsi:type="dcterms:W3CDTF">2011-08-01T06:04:30Z</dcterms:modified>
  <cp:revision>1</cp:revision>
  <dc:title>AI thay đổi giáo dục</dc:title>
</cp:coreProperties>
</file>